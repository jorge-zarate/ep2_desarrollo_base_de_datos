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9" r:id="rId5"/>
    <p:sldId id="259" r:id="rId6"/>
    <p:sldId id="264" r:id="rId7"/>
    <p:sldId id="260" r:id="rId8"/>
    <p:sldId id="261" r:id="rId9"/>
    <p:sldId id="270" r:id="rId10"/>
    <p:sldId id="265" r:id="rId11"/>
    <p:sldId id="268" r:id="rId12"/>
    <p:sldId id="262" r:id="rId13"/>
    <p:sldId id="267" r:id="rId14"/>
    <p:sldId id="263" r:id="rId15"/>
    <p:sldId id="271" r:id="rId16"/>
    <p:sldId id="266" r:id="rId1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modelo tiene seis tablas. Tienda es la sucursal y cada tienda tiene varios empleados. Cada venta la registra un empleado en una tienda, por eso Venta tiene dos claves foráneas: id_empleado e id_tienda. Venta guarda los importes totales y Detalle_venta guarda qué producto se vendió, la cantidad, el precio de ese momento y sus importes. Productos mantiene el precio y el stock: TrgDetalleStock descuenta el stock al insertar un detalle. Auditoria_Precio guarda el precio anterior y el nuevo cada vez que cambia valor_unitario, mediante el trigger AuditoriaCambioPrecio.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modelo está en tercera forma normal, y eso implica que también cumple la primera y la segunda. Primera forma normal: no hay listas ni grupos repetidos; si una venta tuviera varios productos, cada uno sería una fila de Detalle_venta. Segunda forma normal: como todas las claves primarias son de una sola columna, no puede haber atributos que dependan solo de una parte de la clave. Tercera forma normal: los datos descriptivos están en su propia tabla; Venta no repite el nombre del empleado ni el de la tienda, solo guarda id_empleado e id_tienda. id_tienda se guarda en Venta para registrar en qué sucursal ocurrió la venta, aunque después el empleado cambie de sucursal. La única excepción consciente son los importes: subtotal, descuento y total se podrían calcular, pero los guardamos para que la boleta quede como registro histórico y no cambie si sube el precio. Para que esos valores no queden inconsistentes, los CHECK obligan a que subtotal sea precio por cantidad y total sea subtotal menos descuento.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FC895-6963-BAF7-41A2-4BED3B740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F33105-5C61-8C62-E6B8-8FD629A41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E8950-2EBF-BB5A-0D08-8101240E8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D3E78-41A2-2ED4-E611-4573F5206E5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86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E6B462E-8AB4-4FE3-8D59-71AA35878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62780FC-4742-438E-A112-F7CA60DA4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8997FAB-188E-4DF2-B5DF-C2D1156E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E33863D-F879-44C9-A214-7E9FE8CF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D0CD151-2001-4362-A045-8B8F63003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EAC4B36-3524-4829-BF68-87978450A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2C2C898-EEB3-4C51-98FA-D90150C69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0FBB288-1F60-418B-BBE3-FED608DFEB5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97F3717-AEE6-4D22-8723-0EEA2136B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B229B9F-F292-4436-A73C-74902CA40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BC33D466-1379-4228-9A98-D3D8AF8DFDB5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B76BA6A-1859-476E-8E0D-AA496CB7814D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840255B-EB71-4D4B-8AF6-AE86AC42D636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4C03EDD-AEE3-4D50-B75A-5FCB625B669E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CD32D3C-F2E2-4903-B45F-FFBCF0E9CE0C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4AF85D9-9816-4751-8CD8-7A71CCCAD231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521365F-5DBA-4B6C-B794-1092477C5726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E3E6020-2601-431F-B288-1EC2CECAE85A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1515870-17F2-4A99-8020-18AA16AD07CF}"/>
              </a:ext>
            </a:extLst>
          </p:cNvPr>
          <p:cNvSpPr>
            <a:spLocks noGrp="1"/>
          </p:cNvSpPr>
          <p:nvPr/>
        </p:nvSpPr>
        <p:spPr>
          <a:xfrm>
            <a:off x="238125" y="419099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6000" b="1" dirty="0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82F0607-6F34-4519-9980-580ED9E084F5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D767DA1-142C-4F34-8EF4-71AF9FA363DD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AE34C07-C42D-4952-8C08-C7127BCB6DA3}"/>
              </a:ext>
            </a:extLst>
          </p:cNvPr>
          <p:cNvSpPr>
            <a:spLocks noGrp="1"/>
          </p:cNvSpPr>
          <p:nvPr/>
        </p:nvSpPr>
        <p:spPr>
          <a:xfrm>
            <a:off x="573958" y="1971675"/>
            <a:ext cx="10477500" cy="1552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2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2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2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2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2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2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2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2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2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2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42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4275" b="1" dirty="0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Cada </a:t>
            </a:r>
            <a:r>
              <a:rPr lang="es-CL" dirty="0"/>
              <a:t>v</a:t>
            </a:r>
            <a:r>
              <a:rPr sz="4275" b="1" dirty="0" err="1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enta</a:t>
            </a:r>
            <a:r>
              <a:rPr sz="4275" b="1" dirty="0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es-ES" sz="4275" b="1" dirty="0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tiene</a:t>
            </a:r>
            <a:endParaRPr sz="4275" b="1" dirty="0">
              <a:solidFill>
                <a:srgbClr val="F8F4EE"/>
              </a:solidFill>
              <a:latin typeface="DejaVu Sans"/>
              <a:ea typeface="DejaVu Sans"/>
              <a:cs typeface="DejaVu Sans"/>
            </a:endParaRPr>
          </a:p>
          <a:p>
            <a:pPr algn="ctr">
              <a:defRPr sz="42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4275" b="1" dirty="0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a </a:t>
            </a:r>
            <a:r>
              <a:rPr sz="4275" b="1" dirty="0" err="1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alguien</a:t>
            </a:r>
            <a:r>
              <a:rPr sz="4275" b="1" dirty="0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4275" b="1" dirty="0" err="1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detrás</a:t>
            </a:r>
            <a:endParaRPr sz="4275" b="1" dirty="0">
              <a:solidFill>
                <a:srgbClr val="F8F4E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0C4B3A6-1B11-44EB-90DF-E2BB9EF4D52B}"/>
              </a:ext>
            </a:extLst>
          </p:cNvPr>
          <p:cNvSpPr>
            <a:spLocks noGrp="1"/>
          </p:cNvSpPr>
          <p:nvPr/>
        </p:nvSpPr>
        <p:spPr>
          <a:xfrm>
            <a:off x="692867" y="4589053"/>
            <a:ext cx="8982075" cy="10993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 err="1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Registramos</a:t>
            </a:r>
            <a:r>
              <a:rPr sz="2100" b="0" dirty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 la </a:t>
            </a:r>
            <a:r>
              <a:rPr sz="2100" b="0" dirty="0" err="1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compra</a:t>
            </a:r>
            <a:r>
              <a:rPr sz="2100" b="0" dirty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,</a:t>
            </a:r>
            <a:r>
              <a:rPr lang="es-CL" sz="2100" b="0" dirty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calcular el precio y stock,</a:t>
            </a:r>
            <a:r>
              <a:rPr sz="2100" b="0" dirty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identificamos</a:t>
            </a:r>
            <a:r>
              <a:rPr sz="2100" b="0" dirty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 al </a:t>
            </a:r>
            <a:r>
              <a:rPr sz="2100" b="0" dirty="0" err="1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empleado</a:t>
            </a:r>
            <a:r>
              <a:rPr lang="es-CL" sz="2100" b="0" dirty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 y</a:t>
            </a:r>
            <a:r>
              <a:rPr sz="2100" b="0" dirty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dejamos</a:t>
            </a:r>
            <a:r>
              <a:rPr sz="2100" b="0" dirty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 un </a:t>
            </a:r>
            <a:r>
              <a:rPr sz="2100" b="0" dirty="0" err="1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respaldo</a:t>
            </a:r>
            <a:r>
              <a:rPr sz="2100" b="0" dirty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 para </a:t>
            </a:r>
            <a:r>
              <a:rPr sz="2100" b="0" dirty="0" err="1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revisar</a:t>
            </a:r>
            <a:r>
              <a:rPr sz="2100" b="0" dirty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 sus </a:t>
            </a:r>
            <a:r>
              <a:rPr sz="2100" b="0" dirty="0" err="1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ventas</a:t>
            </a:r>
            <a:r>
              <a:rPr sz="2100" b="0" dirty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8DD70F0-9DE3-4404-9347-E09A9C44B19E}"/>
              </a:ext>
            </a:extLst>
          </p:cNvPr>
          <p:cNvSpPr>
            <a:spLocks noGrp="1"/>
          </p:cNvSpPr>
          <p:nvPr/>
        </p:nvSpPr>
        <p:spPr>
          <a:xfrm>
            <a:off x="742950" y="5429250"/>
            <a:ext cx="2143125" cy="323850"/>
          </a:xfrm>
          <a:prstGeom prst="roundRect">
            <a:avLst>
              <a:gd name="adj" fmla="val 23529"/>
            </a:avLst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46A54F6-BA57-4157-8A47-A067D461C7B3}"/>
              </a:ext>
            </a:extLst>
          </p:cNvPr>
          <p:cNvSpPr>
            <a:spLocks noGrp="1"/>
          </p:cNvSpPr>
          <p:nvPr/>
        </p:nvSpPr>
        <p:spPr>
          <a:xfrm>
            <a:off x="838200" y="546735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rPr>
              <a:t>ORACLE + PL/SQL</a:t>
            </a:r>
          </a:p>
        </p:txBody>
      </p:sp>
    </p:spTree>
    <p:extLst>
      <p:ext uri="{BB962C8B-B14F-4D97-AF65-F5344CB8AC3E}">
        <p14:creationId xmlns:p14="http://schemas.microsoft.com/office/powerpoint/2010/main" val="242896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AD623447-3AEB-4597-99E9-ED21AB95642C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13B7227-6E39-45F3-BC5A-C134C6B85583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075F9CD-0932-4307-94D4-D800A31CCA38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5DD02FD-C512-45B1-8633-78F891E54CCE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9E9909-7562-4700-9CF7-898F708A028F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3994917-BA6F-4A54-B867-05370369A6A4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31BC862-E2FD-4FA8-AD0D-328365FC9838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3D99EFA-A192-480F-B549-AE1B0B5BE577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F731757-72E3-4B38-B1E0-B740ED9860D4}"/>
              </a:ext>
            </a:extLst>
          </p:cNvPr>
          <p:cNvSpPr>
            <a:spLocks noGrp="1"/>
          </p:cNvSpPr>
          <p:nvPr/>
        </p:nvSpPr>
        <p:spPr>
          <a:xfrm>
            <a:off x="742950" y="542925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Lo que queremos resolver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EE4B3BF-F3CA-4726-A7C3-6B3EA10B3757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E6D8DC4-C103-4BC0-B61B-6FD4BF1AB599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25618E3-8378-4E7D-9E71-EC06409BD991}"/>
              </a:ext>
            </a:extLst>
          </p:cNvPr>
          <p:cNvSpPr>
            <a:spLocks noGrp="1"/>
          </p:cNvSpPr>
          <p:nvPr/>
        </p:nvSpPr>
        <p:spPr>
          <a:xfrm>
            <a:off x="742950" y="1666875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4EE"/>
                </a:solidFill>
                <a:latin typeface="DejaVu Sans"/>
              </a:rPr>
              <a:t>Gas al Paso necesita registrar cada venta con su producto, empleado y sucursal para revisar el stock y las ventas del día.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A40C125-C803-4AFF-B286-C2EA2609511E}"/>
              </a:ext>
            </a:extLst>
          </p:cNvPr>
          <p:cNvSpPr>
            <a:spLocks noGrp="1"/>
          </p:cNvSpPr>
          <p:nvPr/>
        </p:nvSpPr>
        <p:spPr>
          <a:xfrm>
            <a:off x="742950" y="3190875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380E943-010D-45A3-8C63-9609ABEB97EF}"/>
              </a:ext>
            </a:extLst>
          </p:cNvPr>
          <p:cNvSpPr>
            <a:spLocks noGrp="1"/>
          </p:cNvSpPr>
          <p:nvPr/>
        </p:nvSpPr>
        <p:spPr>
          <a:xfrm>
            <a:off x="742950" y="3952875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Calcular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381AE18-E6D6-4111-863F-A92859EE2E62}"/>
              </a:ext>
            </a:extLst>
          </p:cNvPr>
          <p:cNvSpPr>
            <a:spLocks noGrp="1"/>
          </p:cNvSpPr>
          <p:nvPr/>
        </p:nvSpPr>
        <p:spPr>
          <a:xfrm>
            <a:off x="742950" y="4524375"/>
            <a:ext cx="333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Precio, cantidad</a:t>
            </a:r>
          </a:p>
          <a:p>
            <a: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y descuento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4F651C3-816F-4C10-92C3-A70F655B6F7B}"/>
              </a:ext>
            </a:extLst>
          </p:cNvPr>
          <p:cNvSpPr>
            <a:spLocks noGrp="1"/>
          </p:cNvSpPr>
          <p:nvPr/>
        </p:nvSpPr>
        <p:spPr>
          <a:xfrm>
            <a:off x="4457700" y="3190875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DE6CC8F-4678-4010-A31B-FF1835F5FF8C}"/>
              </a:ext>
            </a:extLst>
          </p:cNvPr>
          <p:cNvSpPr>
            <a:spLocks noGrp="1"/>
          </p:cNvSpPr>
          <p:nvPr/>
        </p:nvSpPr>
        <p:spPr>
          <a:xfrm>
            <a:off x="4457700" y="3952875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Registrar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D3AA89C-3BD4-4F16-9C96-E9F0589BC3E0}"/>
              </a:ext>
            </a:extLst>
          </p:cNvPr>
          <p:cNvSpPr>
            <a:spLocks noGrp="1"/>
          </p:cNvSpPr>
          <p:nvPr/>
        </p:nvSpPr>
        <p:spPr>
          <a:xfrm>
            <a:off x="4457700" y="4524375"/>
            <a:ext cx="333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dirty="0" err="1"/>
              <a:t>Empleado</a:t>
            </a:r>
            <a:r>
              <a:rPr dirty="0"/>
              <a:t>, </a:t>
            </a:r>
            <a:r>
              <a:rPr dirty="0" err="1"/>
              <a:t>producto</a:t>
            </a:r>
            <a:r>
              <a:rPr dirty="0"/>
              <a:t> y </a:t>
            </a:r>
            <a:r>
              <a:rPr dirty="0" err="1"/>
              <a:t>sucursal</a:t>
            </a:r>
            <a:endParaRPr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07AF043-0E92-4B35-9D82-B64AE9F02158}"/>
              </a:ext>
            </a:extLst>
          </p:cNvPr>
          <p:cNvSpPr>
            <a:spLocks noGrp="1"/>
          </p:cNvSpPr>
          <p:nvPr/>
        </p:nvSpPr>
        <p:spPr>
          <a:xfrm>
            <a:off x="8172450" y="3190875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72E11B4-6B63-4D80-9515-A8D33C750F83}"/>
              </a:ext>
            </a:extLst>
          </p:cNvPr>
          <p:cNvSpPr>
            <a:spLocks noGrp="1"/>
          </p:cNvSpPr>
          <p:nvPr/>
        </p:nvSpPr>
        <p:spPr>
          <a:xfrm>
            <a:off x="8172450" y="3952875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Revisar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7240BD0-5A97-4938-B697-41AC29DC78D0}"/>
              </a:ext>
            </a:extLst>
          </p:cNvPr>
          <p:cNvSpPr>
            <a:spLocks noGrp="1"/>
          </p:cNvSpPr>
          <p:nvPr/>
        </p:nvSpPr>
        <p:spPr>
          <a:xfrm>
            <a:off x="8172450" y="4524375"/>
            <a:ext cx="333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Boleta y ventas</a:t>
            </a:r>
          </a:p>
          <a:p>
            <a:pPr>
              <a:def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del día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7042ED1-F72C-4602-A1F2-5FECC8F3C7B4}"/>
              </a:ext>
            </a:extLst>
          </p:cNvPr>
          <p:cNvSpPr>
            <a:spLocks noGrp="1"/>
          </p:cNvSpPr>
          <p:nvPr/>
        </p:nvSpPr>
        <p:spPr>
          <a:xfrm>
            <a:off x="742950" y="5715000"/>
            <a:ext cx="10715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Alcance: registrar un producto por venta, controlar el stock general y consultar ventas diarias. Se trabajó con Oracle Database, PL/SQL y SQL Developer.</a:t>
            </a:r>
          </a:p>
        </p:txBody>
      </p:sp>
    </p:spTree>
    <p:extLst>
      <p:ext uri="{BB962C8B-B14F-4D97-AF65-F5344CB8AC3E}">
        <p14:creationId xmlns:p14="http://schemas.microsoft.com/office/powerpoint/2010/main" val="1560171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ángulo 47">
            <a:extLst>
              <a:ext uri="{FF2B5EF4-FFF2-40B4-BE49-F238E27FC236}">
                <a16:creationId xmlns:a16="http://schemas.microsoft.com/office/drawing/2014/main" id="{9A6D0FB1-13BE-4D78-8629-2167342BC8A3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37428C-365E-4E9C-86E9-B31CC3D00241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5DCA13A-F0D6-4E36-AC6C-5141E8023CBB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894C04A-2DDE-4C37-AF2F-E4751444B1FA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787615-BB6F-492F-8435-B9ACFBFAFA81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871D994-FEDD-4210-965B-8A78E5E6F7A6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CC5509-64E6-4AF2-9EB4-1F51C2810260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CA9201F-F8EE-475F-9C74-0AB312F21E59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624DAF6-7AA6-433F-A3AB-581EB76EFAC2}"/>
              </a:ext>
            </a:extLst>
          </p:cNvPr>
          <p:cNvSpPr>
            <a:spLocks noGrp="1"/>
          </p:cNvSpPr>
          <p:nvPr/>
        </p:nvSpPr>
        <p:spPr>
          <a:xfrm>
            <a:off x="742950" y="542925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Modelo de datos del proyecto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510D1E-0ACF-4F2F-BAAE-8E5C7B79FE9C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51E9FF3-263B-4FCF-A96F-0EA595A62F2A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9" name="Tabla Tienda"/>
          <p:cNvSpPr/>
          <p:nvPr/>
        </p:nvSpPr>
        <p:spPr>
          <a:xfrm>
            <a:off x="740664" y="1572768"/>
            <a:ext cx="3063240" cy="850392"/>
          </a:xfrm>
          <a:prstGeom prst="roundRect">
            <a:avLst>
              <a:gd name="adj" fmla="val 5000"/>
            </a:avLst>
          </a:prstGeom>
          <a:solidFill>
            <a:srgbClr val="1E2633"/>
          </a:solidFill>
          <a:ln w="9525">
            <a:solidFill>
              <a:srgbClr val="34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40664" y="1572768"/>
            <a:ext cx="3063240" cy="384048"/>
          </a:xfrm>
          <a:prstGeom prst="roundRect">
            <a:avLst>
              <a:gd name="adj" fmla="val 18000"/>
            </a:avLst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6968" y="1572768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9A3D"/>
                </a:solidFill>
                <a:latin typeface="DejaVu Sans"/>
              </a:rPr>
              <a:t>Tienda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" y="1993392"/>
            <a:ext cx="329184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9A3D"/>
                </a:solidFill>
                <a:latin typeface="DejaVu Sans Mono"/>
              </a:rPr>
              <a:t>PK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52728" y="1993392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8F4EE"/>
                </a:solidFill>
                <a:latin typeface="DejaVu Sans"/>
              </a:rPr>
              <a:t>id_tienda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05456" y="1993392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2728" y="2189988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nombre_tienda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05456" y="2189988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VARCHAR2(50)</a:t>
            </a:r>
          </a:p>
        </p:txBody>
      </p:sp>
      <p:sp>
        <p:nvSpPr>
          <p:cNvPr id="57" name="Tabla Empleado"/>
          <p:cNvSpPr/>
          <p:nvPr/>
        </p:nvSpPr>
        <p:spPr>
          <a:xfrm>
            <a:off x="4562856" y="1572768"/>
            <a:ext cx="3063240" cy="1046988"/>
          </a:xfrm>
          <a:prstGeom prst="roundRect">
            <a:avLst>
              <a:gd name="adj" fmla="val 5000"/>
            </a:avLst>
          </a:prstGeom>
          <a:solidFill>
            <a:srgbClr val="1E2633"/>
          </a:solidFill>
          <a:ln w="9525">
            <a:solidFill>
              <a:srgbClr val="34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562856" y="1572768"/>
            <a:ext cx="3063240" cy="384048"/>
          </a:xfrm>
          <a:prstGeom prst="roundRect">
            <a:avLst>
              <a:gd name="adj" fmla="val 18000"/>
            </a:avLst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09160" y="1572768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9A3D"/>
                </a:solidFill>
                <a:latin typeface="DejaVu Sans"/>
              </a:rPr>
              <a:t>Empleado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60" y="1993392"/>
            <a:ext cx="329184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9A3D"/>
                </a:solidFill>
                <a:latin typeface="DejaVu Sans Mono"/>
              </a:rPr>
              <a:t>PK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74920" y="1993392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8F4EE"/>
                </a:solidFill>
                <a:latin typeface="DejaVu Sans"/>
              </a:rPr>
              <a:t>id_empleado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27648" y="1993392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74920" y="2189988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nombre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27648" y="2189988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VARCHAR2(80)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09160" y="2386584"/>
            <a:ext cx="329184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FB8E8"/>
                </a:solidFill>
                <a:latin typeface="DejaVu Sans Mono"/>
              </a:rPr>
              <a:t>FK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74920" y="2386584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id_tienda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27648" y="2386584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</a:t>
            </a:r>
          </a:p>
        </p:txBody>
      </p:sp>
      <p:sp>
        <p:nvSpPr>
          <p:cNvPr id="68" name="Tabla Venta"/>
          <p:cNvSpPr/>
          <p:nvPr/>
        </p:nvSpPr>
        <p:spPr>
          <a:xfrm>
            <a:off x="8385048" y="1572768"/>
            <a:ext cx="3063240" cy="1833372"/>
          </a:xfrm>
          <a:prstGeom prst="roundRect">
            <a:avLst>
              <a:gd name="adj" fmla="val 5000"/>
            </a:avLst>
          </a:prstGeom>
          <a:solidFill>
            <a:srgbClr val="1E2633"/>
          </a:solidFill>
          <a:ln w="9525">
            <a:solidFill>
              <a:srgbClr val="34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385048" y="1572768"/>
            <a:ext cx="3063240" cy="384048"/>
          </a:xfrm>
          <a:prstGeom prst="roundRect">
            <a:avLst>
              <a:gd name="adj" fmla="val 18000"/>
            </a:avLst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531352" y="1572768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9A3D"/>
                </a:solidFill>
                <a:latin typeface="DejaVu Sans"/>
              </a:rPr>
              <a:t>Venta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31352" y="1993392"/>
            <a:ext cx="329184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9A3D"/>
                </a:solidFill>
                <a:latin typeface="DejaVu Sans Mono"/>
              </a:rPr>
              <a:t>PK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97112" y="1993392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8F4EE"/>
                </a:solidFill>
                <a:latin typeface="DejaVu Sans"/>
              </a:rPr>
              <a:t>id_venta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49840" y="1993392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97112" y="2189988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fecha_venta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49840" y="2189988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DATE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31352" y="2386584"/>
            <a:ext cx="329184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FB8E8"/>
                </a:solidFill>
                <a:latin typeface="DejaVu Sans Mono"/>
              </a:rPr>
              <a:t>FK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97112" y="2386584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id_empleado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49840" y="2386584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31352" y="2583180"/>
            <a:ext cx="329184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FB8E8"/>
                </a:solidFill>
                <a:latin typeface="DejaVu Sans Mono"/>
              </a:rPr>
              <a:t>FK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97112" y="2583180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id_tienda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49840" y="2583180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97112" y="2779776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subtotal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49840" y="2779776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NUMBER(12,2)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97112" y="2976372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descuento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49840" y="2976372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NUMBER(12,2)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97112" y="3172968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total_venta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49840" y="3172968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NUMBER(12,2)</a:t>
            </a:r>
          </a:p>
        </p:txBody>
      </p:sp>
      <p:sp>
        <p:nvSpPr>
          <p:cNvPr id="88" name="Tabla Auditoria_Precio"/>
          <p:cNvSpPr/>
          <p:nvPr/>
        </p:nvSpPr>
        <p:spPr>
          <a:xfrm>
            <a:off x="740664" y="3986784"/>
            <a:ext cx="3063240" cy="1440180"/>
          </a:xfrm>
          <a:prstGeom prst="roundRect">
            <a:avLst>
              <a:gd name="adj" fmla="val 5000"/>
            </a:avLst>
          </a:prstGeom>
          <a:solidFill>
            <a:srgbClr val="1E2633"/>
          </a:solidFill>
          <a:ln w="9525">
            <a:solidFill>
              <a:srgbClr val="34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740664" y="3986784"/>
            <a:ext cx="3063240" cy="384048"/>
          </a:xfrm>
          <a:prstGeom prst="roundRect">
            <a:avLst>
              <a:gd name="adj" fmla="val 18000"/>
            </a:avLst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86968" y="3986784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9A3D"/>
                </a:solidFill>
                <a:latin typeface="DejaVu Sans"/>
              </a:rPr>
              <a:t>Auditoria_Precio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6968" y="4407408"/>
            <a:ext cx="329184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9A3D"/>
                </a:solidFill>
                <a:latin typeface="DejaVu Sans Mono"/>
              </a:rPr>
              <a:t>PK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52728" y="4407408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8F4EE"/>
                </a:solidFill>
                <a:latin typeface="DejaVu Sans"/>
              </a:rPr>
              <a:t>id_auditoria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505456" y="4407408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" y="4604004"/>
            <a:ext cx="329184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FB8E8"/>
                </a:solidFill>
                <a:latin typeface="DejaVu Sans Mono"/>
              </a:rPr>
              <a:t>FK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52728" y="4604004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id_producto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505456" y="4604004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52728" y="4800600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precio_anterior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505456" y="4800600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NUMBER(10,2)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52728" y="4997196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precio_nuevo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505456" y="4997196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NUMBER(10,2)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52728" y="5193792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fecha_cambio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505456" y="5193792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DATE</a:t>
            </a:r>
          </a:p>
        </p:txBody>
      </p:sp>
      <p:sp>
        <p:nvSpPr>
          <p:cNvPr id="103" name="Tabla Productos"/>
          <p:cNvSpPr/>
          <p:nvPr/>
        </p:nvSpPr>
        <p:spPr>
          <a:xfrm>
            <a:off x="4562856" y="3986784"/>
            <a:ext cx="3063240" cy="1636776"/>
          </a:xfrm>
          <a:prstGeom prst="roundRect">
            <a:avLst>
              <a:gd name="adj" fmla="val 5000"/>
            </a:avLst>
          </a:prstGeom>
          <a:solidFill>
            <a:srgbClr val="1E2633"/>
          </a:solidFill>
          <a:ln w="9525">
            <a:solidFill>
              <a:srgbClr val="34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4562856" y="3986784"/>
            <a:ext cx="3063240" cy="384048"/>
          </a:xfrm>
          <a:prstGeom prst="roundRect">
            <a:avLst>
              <a:gd name="adj" fmla="val 18000"/>
            </a:avLst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709160" y="3986784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9A3D"/>
                </a:solidFill>
                <a:latin typeface="DejaVu Sans"/>
              </a:rPr>
              <a:t>Productos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09160" y="4407408"/>
            <a:ext cx="329184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9A3D"/>
                </a:solidFill>
                <a:latin typeface="DejaVu Sans Mono"/>
              </a:rPr>
              <a:t>PK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74920" y="4407408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8F4EE"/>
                </a:solidFill>
                <a:latin typeface="DejaVu Sans"/>
              </a:rPr>
              <a:t>id_producto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27648" y="4407408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74920" y="4604004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nombre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27648" y="4604004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VARCHAR2(50)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74920" y="4800600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descripcion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27648" y="4800600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VARCHAR2(100)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74920" y="4997196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peso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27648" y="4997196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NUMBER(5,2)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74920" y="5193792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valor_unitario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27648" y="5193792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NUMBER(10,2)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74920" y="5390388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stock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27648" y="5390388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</a:t>
            </a:r>
          </a:p>
        </p:txBody>
      </p:sp>
      <p:sp>
        <p:nvSpPr>
          <p:cNvPr id="119" name="Tabla Detalle_venta"/>
          <p:cNvSpPr/>
          <p:nvPr/>
        </p:nvSpPr>
        <p:spPr>
          <a:xfrm>
            <a:off x="8385048" y="3986784"/>
            <a:ext cx="3063240" cy="2029967"/>
          </a:xfrm>
          <a:prstGeom prst="roundRect">
            <a:avLst>
              <a:gd name="adj" fmla="val 5000"/>
            </a:avLst>
          </a:prstGeom>
          <a:solidFill>
            <a:srgbClr val="1E2633"/>
          </a:solidFill>
          <a:ln w="9525">
            <a:solidFill>
              <a:srgbClr val="34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8385048" y="3986784"/>
            <a:ext cx="3063240" cy="384048"/>
          </a:xfrm>
          <a:prstGeom prst="roundRect">
            <a:avLst>
              <a:gd name="adj" fmla="val 18000"/>
            </a:avLst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531352" y="3986784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9A3D"/>
                </a:solidFill>
                <a:latin typeface="DejaVu Sans"/>
              </a:rPr>
              <a:t>Detalle_venta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531352" y="4407408"/>
            <a:ext cx="329184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9A3D"/>
                </a:solidFill>
                <a:latin typeface="DejaVu Sans Mono"/>
              </a:rPr>
              <a:t>PK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897112" y="4407408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8F4EE"/>
                </a:solidFill>
                <a:latin typeface="DejaVu Sans"/>
              </a:rPr>
              <a:t>id_detalle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149840" y="4407408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531352" y="4604004"/>
            <a:ext cx="329184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FB8E8"/>
                </a:solidFill>
                <a:latin typeface="DejaVu Sans Mono"/>
              </a:rPr>
              <a:t>FK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897112" y="4604004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id_venta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149840" y="4604004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531352" y="4800600"/>
            <a:ext cx="329184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FB8E8"/>
                </a:solidFill>
                <a:latin typeface="DejaVu Sans Mono"/>
              </a:rPr>
              <a:t>FK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897112" y="4800600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id_producto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149840" y="4800600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897112" y="4997196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cantidad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149840" y="4997196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897112" y="5193792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precio_unitario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149840" y="5193792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NUMBER(10,2)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897112" y="5390388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subtotal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149840" y="5390388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NUMBER(12,2)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897112" y="5586984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descuento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149840" y="5586984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NUMBER(12,2)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897112" y="5783580"/>
            <a:ext cx="1554480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total_venta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149840" y="5783580"/>
            <a:ext cx="1170432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E8999"/>
                </a:solidFill>
                <a:latin typeface="DejaVu Sans Mono"/>
              </a:rPr>
              <a:t>NUMBER(12,2)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3803904" y="2091690"/>
            <a:ext cx="379476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183380" y="2091690"/>
            <a:ext cx="0" cy="393192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183380" y="2484882"/>
            <a:ext cx="379476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895344" y="2023110"/>
            <a:ext cx="0" cy="13716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4434840" y="2416302"/>
            <a:ext cx="128016" cy="6858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434840" y="2484882"/>
            <a:ext cx="128016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434840" y="2484882"/>
            <a:ext cx="128016" cy="6858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3877056" y="182651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9A3D"/>
                </a:solidFill>
                <a:latin typeface="DejaVu Sans"/>
              </a:rPr>
              <a:t>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251960" y="220141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9A3D"/>
                </a:solidFill>
                <a:latin typeface="DejaVu Sans"/>
              </a:rPr>
              <a:t>N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7626096" y="2091690"/>
            <a:ext cx="379475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005571" y="2091690"/>
            <a:ext cx="0" cy="393192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005571" y="2484882"/>
            <a:ext cx="379477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7717536" y="2023110"/>
            <a:ext cx="0" cy="13716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8257031" y="2416302"/>
            <a:ext cx="128017" cy="6858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257031" y="2484882"/>
            <a:ext cx="128017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257031" y="2484882"/>
            <a:ext cx="128017" cy="6858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7699248" y="182651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9A3D"/>
                </a:solidFill>
                <a:latin typeface="DejaVu Sans"/>
              </a:rPr>
              <a:t>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074152" y="220141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9A3D"/>
                </a:solidFill>
                <a:latin typeface="DejaVu Sans"/>
              </a:rPr>
              <a:t>N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7626096" y="4505706"/>
            <a:ext cx="379475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005571" y="4505706"/>
            <a:ext cx="0" cy="393192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005571" y="4898898"/>
            <a:ext cx="379477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7717536" y="4437126"/>
            <a:ext cx="0" cy="13716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8257031" y="4830318"/>
            <a:ext cx="128017" cy="6858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257031" y="4898898"/>
            <a:ext cx="128017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257031" y="4898898"/>
            <a:ext cx="128017" cy="6858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7699248" y="424053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9A3D"/>
                </a:solidFill>
                <a:latin typeface="DejaVu Sans"/>
              </a:rPr>
              <a:t>1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074152" y="461543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9A3D"/>
                </a:solidFill>
                <a:latin typeface="DejaVu Sans"/>
              </a:rPr>
              <a:t>N</a:t>
            </a:r>
          </a:p>
        </p:txBody>
      </p:sp>
      <p:cxnSp>
        <p:nvCxnSpPr>
          <p:cNvPr id="168" name="Connector 167"/>
          <p:cNvCxnSpPr/>
          <p:nvPr/>
        </p:nvCxnSpPr>
        <p:spPr>
          <a:xfrm flipH="1">
            <a:off x="4183380" y="4505706"/>
            <a:ext cx="379476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4183380" y="4505706"/>
            <a:ext cx="0" cy="196596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3803904" y="4702302"/>
            <a:ext cx="379476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4471416" y="4437126"/>
            <a:ext cx="0" cy="13716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 flipV="1">
            <a:off x="3803904" y="4633722"/>
            <a:ext cx="128016" cy="6858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3803904" y="4702302"/>
            <a:ext cx="128016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3803904" y="4702302"/>
            <a:ext cx="128016" cy="6858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4270248" y="424053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9A3D"/>
                </a:solidFill>
                <a:latin typeface="DejaVu Sans"/>
              </a:rPr>
              <a:t>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895344" y="441883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9A3D"/>
                </a:solidFill>
                <a:latin typeface="DejaVu Sans"/>
              </a:rPr>
              <a:t>N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1563624" y="2423160"/>
            <a:ext cx="0" cy="120015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563624" y="3623310"/>
            <a:ext cx="7507224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070848" y="3406139"/>
            <a:ext cx="0" cy="217171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495044" y="2514600"/>
            <a:ext cx="137160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 flipV="1">
            <a:off x="9002268" y="3406139"/>
            <a:ext cx="68580" cy="128017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070848" y="3406139"/>
            <a:ext cx="0" cy="128017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070848" y="3406139"/>
            <a:ext cx="68580" cy="128017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1636776" y="249631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9A3D"/>
                </a:solidFill>
                <a:latin typeface="DejaVu Sans"/>
              </a:rPr>
              <a:t>1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144000" y="3497579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9A3D"/>
                </a:solidFill>
                <a:latin typeface="DejaVu Sans"/>
              </a:rPr>
              <a:t>N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10579608" y="3406139"/>
            <a:ext cx="0" cy="580645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10511028" y="3497579"/>
            <a:ext cx="137160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H="1">
            <a:off x="10511028" y="3858768"/>
            <a:ext cx="68580" cy="128016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10579608" y="3858768"/>
            <a:ext cx="0" cy="128016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0579608" y="3858768"/>
            <a:ext cx="68580" cy="128016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10652760" y="3451859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9A3D"/>
                </a:solidFill>
                <a:latin typeface="DejaVu Sans"/>
              </a:rPr>
              <a:t>1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0652760" y="369417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9A3D"/>
                </a:solidFill>
                <a:latin typeface="DejaVu Sans"/>
              </a:rPr>
              <a:t>N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40664" y="612648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9A3D"/>
                </a:solidFill>
                <a:latin typeface="DejaVu Sans Mono"/>
              </a:rPr>
              <a:t>PK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24128" y="612648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clave primaria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514600" y="612648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FB8E8"/>
                </a:solidFill>
                <a:latin typeface="DejaVu Sans Mono"/>
              </a:rPr>
              <a:t>FK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798064" y="612648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clave foránea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4297680" y="6227064"/>
            <a:ext cx="502920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4370832" y="6158484"/>
            <a:ext cx="0" cy="13716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4672584" y="6158484"/>
            <a:ext cx="128016" cy="6858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4672584" y="6227064"/>
            <a:ext cx="128016" cy="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4672584" y="6227064"/>
            <a:ext cx="128016" cy="68580"/>
          </a:xfrm>
          <a:prstGeom prst="line">
            <a:avLst/>
          </a:prstGeom>
          <a:ln w="19050">
            <a:solidFill>
              <a:srgbClr val="C9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4937760" y="61264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8C0CC"/>
                </a:solidFill>
                <a:latin typeface="DejaVu Sans"/>
              </a:rPr>
              <a:t>una fila se relaciona con muchas (1 : N)</a:t>
            </a:r>
          </a:p>
        </p:txBody>
      </p:sp>
    </p:spTree>
    <p:extLst>
      <p:ext uri="{BB962C8B-B14F-4D97-AF65-F5344CB8AC3E}">
        <p14:creationId xmlns:p14="http://schemas.microsoft.com/office/powerpoint/2010/main" val="1667916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ángulo 47">
            <a:extLst>
              <a:ext uri="{FF2B5EF4-FFF2-40B4-BE49-F238E27FC236}">
                <a16:creationId xmlns:a16="http://schemas.microsoft.com/office/drawing/2014/main" id="{9A6D0FB1-13BE-4D78-8629-2167342BC8A3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37428C-365E-4E9C-86E9-B31CC3D00241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5DCA13A-F0D6-4E36-AC6C-5141E8023CBB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894C04A-2DDE-4C37-AF2F-E4751444B1FA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787615-BB6F-492F-8435-B9ACFBFAFA81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871D994-FEDD-4210-965B-8A78E5E6F7A6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CC5509-64E6-4AF2-9EB4-1F51C2810260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CA9201F-F8EE-475F-9C74-0AB312F21E59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624DAF6-7AA6-433F-A3AB-581EB76EFAC2}"/>
              </a:ext>
            </a:extLst>
          </p:cNvPr>
          <p:cNvSpPr>
            <a:spLocks noGrp="1"/>
          </p:cNvSpPr>
          <p:nvPr/>
        </p:nvSpPr>
        <p:spPr>
          <a:xfrm>
            <a:off x="742950" y="542925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Normalización: el modelo está en 3FN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510D1E-0ACF-4F2F-BAAE-8E5C7B79FE9C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51E9FF3-263B-4FCF-A96F-0EA595A62F2A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9" name="Forma normal 1FN"/>
          <p:cNvSpPr/>
          <p:nvPr/>
        </p:nvSpPr>
        <p:spPr>
          <a:xfrm>
            <a:off x="740664" y="1645920"/>
            <a:ext cx="3392424" cy="2697480"/>
          </a:xfrm>
          <a:prstGeom prst="roundRect">
            <a:avLst>
              <a:gd name="adj" fmla="val 5000"/>
            </a:avLst>
          </a:prstGeom>
          <a:solidFill>
            <a:srgbClr val="1E2633"/>
          </a:solidFill>
          <a:ln w="9525">
            <a:solidFill>
              <a:srgbClr val="34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264" y="182880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9A3D"/>
                </a:solidFill>
                <a:latin typeface="DejaVu Sans"/>
              </a:rPr>
              <a:t>1FN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98647" y="192024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9A3D"/>
                </a:solidFill>
                <a:latin typeface="DejaVu Sans"/>
              </a:rPr>
              <a:t>✓ cumple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" y="2395728"/>
            <a:ext cx="29352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8F4EE"/>
                </a:solidFill>
                <a:latin typeface="DejaVu Sans"/>
              </a:rPr>
              <a:t>Datos atómicos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" y="3017520"/>
            <a:ext cx="29352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B8C0CC"/>
                </a:solidFill>
                <a:latin typeface="DejaVu Sans"/>
              </a:rPr>
              <a:t>Cada columna guarda un solo valor y cada tabla tiene clave primaria. Un producto vendido es una fila de Detalle_venta, no una lista dentro de Venta.</a:t>
            </a:r>
          </a:p>
        </p:txBody>
      </p:sp>
      <p:sp>
        <p:nvSpPr>
          <p:cNvPr id="54" name="Forma normal 2FN"/>
          <p:cNvSpPr/>
          <p:nvPr/>
        </p:nvSpPr>
        <p:spPr>
          <a:xfrm>
            <a:off x="4398264" y="1645920"/>
            <a:ext cx="3392424" cy="2697480"/>
          </a:xfrm>
          <a:prstGeom prst="roundRect">
            <a:avLst>
              <a:gd name="adj" fmla="val 5000"/>
            </a:avLst>
          </a:prstGeom>
          <a:solidFill>
            <a:srgbClr val="1E2633"/>
          </a:solidFill>
          <a:ln w="9525">
            <a:solidFill>
              <a:srgbClr val="34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626864" y="182880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9A3D"/>
                </a:solidFill>
                <a:latin typeface="DejaVu Sans"/>
              </a:rPr>
              <a:t>2FN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56248" y="192024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9A3D"/>
                </a:solidFill>
                <a:latin typeface="DejaVu Sans"/>
              </a:rPr>
              <a:t>✓ cumple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26864" y="2395728"/>
            <a:ext cx="29352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8F4EE"/>
                </a:solidFill>
                <a:latin typeface="DejaVu Sans"/>
              </a:rPr>
              <a:t>Sin dependencias parciales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26864" y="3017520"/>
            <a:ext cx="29352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B8C0CC"/>
                </a:solidFill>
                <a:latin typeface="DejaVu Sans"/>
              </a:rPr>
              <a:t>Todas las claves primarias son de una sola columna (id_venta, id_detalle…), así que cada atributo depende de la clave completa.</a:t>
            </a:r>
          </a:p>
        </p:txBody>
      </p:sp>
      <p:sp>
        <p:nvSpPr>
          <p:cNvPr id="59" name="Forma normal 3FN"/>
          <p:cNvSpPr/>
          <p:nvPr/>
        </p:nvSpPr>
        <p:spPr>
          <a:xfrm>
            <a:off x="8055864" y="1645920"/>
            <a:ext cx="3392424" cy="2697480"/>
          </a:xfrm>
          <a:prstGeom prst="roundRect">
            <a:avLst>
              <a:gd name="adj" fmla="val 5000"/>
            </a:avLst>
          </a:prstGeom>
          <a:solidFill>
            <a:srgbClr val="1E2633"/>
          </a:solidFill>
          <a:ln w="9525">
            <a:solidFill>
              <a:srgbClr val="34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84464" y="182880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9A3D"/>
                </a:solidFill>
                <a:latin typeface="DejaVu Sans"/>
              </a:rPr>
              <a:t>3FN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13848" y="192024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9A3D"/>
                </a:solidFill>
                <a:latin typeface="DejaVu Sans"/>
              </a:rPr>
              <a:t>✓ cumple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84464" y="2395728"/>
            <a:ext cx="29352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8F4EE"/>
                </a:solidFill>
                <a:latin typeface="DejaVu Sans"/>
              </a:rPr>
              <a:t>Sin dependencias transitivas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84464" y="3017520"/>
            <a:ext cx="29352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B8C0CC"/>
                </a:solidFill>
                <a:latin typeface="DejaVu Sans"/>
              </a:rPr>
              <a:t>Cada dato vive en su tabla: el nombre del empleado está en Empleado y el de la sucursal en Tienda. Venta solo guarda sus claves foráneas.</a:t>
            </a:r>
          </a:p>
        </p:txBody>
      </p:sp>
      <p:sp>
        <p:nvSpPr>
          <p:cNvPr id="64" name="Desnormalizacion controlada"/>
          <p:cNvSpPr/>
          <p:nvPr/>
        </p:nvSpPr>
        <p:spPr>
          <a:xfrm>
            <a:off x="740664" y="4572000"/>
            <a:ext cx="10707624" cy="1463040"/>
          </a:xfrm>
          <a:prstGeom prst="roundRect">
            <a:avLst>
              <a:gd name="adj" fmla="val 5000"/>
            </a:avLst>
          </a:prstGeom>
          <a:solidFill>
            <a:srgbClr val="1E2633"/>
          </a:solidFill>
          <a:ln w="9525">
            <a:solidFill>
              <a:srgbClr val="34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264" y="4754880"/>
            <a:ext cx="10241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9A3D"/>
                </a:solidFill>
                <a:latin typeface="DejaVu Sans"/>
              </a:rPr>
              <a:t>Decisión de diseño · desnormalización controlada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" y="5138928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B8C0CC"/>
                </a:solidFill>
                <a:latin typeface="DejaVu Sans"/>
              </a:rPr>
              <a:t>Venta y Detalle_venta guardan subtotal, descuento y total, y Detalle_venta copia el precio_unitario del momento. Así la boleta no cambia si el precio sube después, y las restricciones CHECK obligan a que total = subtotal − descuento.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AA5500A9-B70F-46AD-B623-53AFE8A508F6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B03D55B-CA38-443B-B4E8-9FEE056A7DB2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74F9D4E-B5BD-4B11-A431-7FECC517A0AF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31625AB-73F4-448B-8176-10BDE88CF751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0A11FF-F975-41EA-846D-FA9A0BD5CE25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808C598-AAF6-4E52-9F77-A1A326F3D99C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E9248EF-1BDA-4CAA-816F-CC2E1EFBDCBB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5112FFD-FC2A-407B-BA40-D333AFC295BD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2E3F7D8-38C0-4AD3-9402-DE6650E31BD6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FUNCIONES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FB675F3-687D-4BD9-9676-F01AC6403C9F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Caso 1 · ¿Cuánto paga el cliente?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AFC440D-6A45-47E2-A7F8-8F60D6E593F4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469D120-71C7-40E8-AF15-4039ADD36680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E25C1A3-065B-42CC-91E0-97558F133B26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7715250" cy="3286125"/>
          </a:xfrm>
          <a:prstGeom prst="roundRect">
            <a:avLst>
              <a:gd name="adj" fmla="val 2319"/>
            </a:avLst>
          </a:prstGeom>
          <a:solidFill>
            <a:srgbClr val="1E263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9599D44-AF80-4182-B65E-DB421A9304CE}"/>
              </a:ext>
            </a:extLst>
          </p:cNvPr>
          <p:cNvSpPr>
            <a:spLocks noGrp="1"/>
          </p:cNvSpPr>
          <p:nvPr/>
        </p:nvSpPr>
        <p:spPr>
          <a:xfrm>
            <a:off x="914400" y="1933575"/>
            <a:ext cx="38100" cy="2095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77CAC72-DC85-4A4D-9D95-67748393719D}"/>
              </a:ext>
            </a:extLst>
          </p:cNvPr>
          <p:cNvSpPr>
            <a:spLocks noGrp="1"/>
          </p:cNvSpPr>
          <p:nvPr/>
        </p:nvSpPr>
        <p:spPr>
          <a:xfrm>
            <a:off x="1047750" y="1943100"/>
            <a:ext cx="7191375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r>
              <a:t>CREATE OR REPLACE FUNCTION CalcularDescuento (</a:t>
            </a:r>
          </a:p>
          <a:p>
            <a:r>
              <a:t>  p_subtotal IN NUMBER</a:t>
            </a:r>
          </a:p>
          <a:p>
            <a:r>
              <a:t>) RETURN NUMBER IS</a:t>
            </a:r>
          </a:p>
          <a:p>
            <a:r>
              <a:t>BEGIN</a:t>
            </a:r>
          </a:p>
          <a:p>
            <a:r>
              <a:t>  IF p_subtotal &gt;= 30000 THEN</a:t>
            </a:r>
          </a:p>
          <a:p>
            <a:r>
              <a:t>    RETURN ROUND(p_subtotal * 0.10, 2);</a:t>
            </a:r>
          </a:p>
          <a:p>
            <a:r>
              <a:t>  END IF;</a:t>
            </a:r>
          </a:p>
          <a:p>
            <a:r>
              <a:t>  RETURN 0;</a:t>
            </a:r>
          </a:p>
          <a:p>
            <a:r>
              <a:t>END CalcularDescuento;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927376C-3A8B-4BC9-A733-329E2F57FB8E}"/>
              </a:ext>
            </a:extLst>
          </p:cNvPr>
          <p:cNvSpPr>
            <a:spLocks noGrp="1"/>
          </p:cNvSpPr>
          <p:nvPr/>
        </p:nvSpPr>
        <p:spPr>
          <a:xfrm>
            <a:off x="8810625" y="1319213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dirty="0" err="1">
                <a:solidFill>
                  <a:srgbClr val="FF9A3D"/>
                </a:solidFill>
                <a:latin typeface="DejaVu Sans"/>
              </a:rPr>
              <a:t>Ejemplo</a:t>
            </a:r>
            <a:r>
              <a:rPr sz="2100" b="1" dirty="0">
                <a:solidFill>
                  <a:srgbClr val="FF9A3D"/>
                </a:solidFill>
                <a:latin typeface="DejaVu Sans"/>
              </a:rPr>
              <a:t>: 2 </a:t>
            </a:r>
            <a:r>
              <a:rPr sz="2100" b="1" dirty="0" err="1">
                <a:solidFill>
                  <a:srgbClr val="FF9A3D"/>
                </a:solidFill>
                <a:latin typeface="DejaVu Sans"/>
              </a:rPr>
              <a:t>balones</a:t>
            </a:r>
            <a:r>
              <a:rPr sz="2100" b="1" dirty="0">
                <a:solidFill>
                  <a:srgbClr val="FF9A3D"/>
                </a:solidFill>
                <a:latin typeface="DejaVu Sans"/>
              </a:rPr>
              <a:t> Gas 11 kg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D1443A8-B330-4EA9-8D2F-6527595190BD}"/>
              </a:ext>
            </a:extLst>
          </p:cNvPr>
          <p:cNvSpPr>
            <a:spLocks noGrp="1"/>
          </p:cNvSpPr>
          <p:nvPr/>
        </p:nvSpPr>
        <p:spPr>
          <a:xfrm>
            <a:off x="8763000" y="2547937"/>
            <a:ext cx="271462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700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dirty="0">
                <a:solidFill>
                  <a:srgbClr val="F8F4EE"/>
                </a:solidFill>
                <a:latin typeface="DejaVu Sans"/>
              </a:rPr>
              <a:t>Subtotal $30.000</a:t>
            </a:r>
            <a:br>
              <a:rPr dirty="0"/>
            </a:br>
            <a:r>
              <a:rPr sz="2700" b="1" dirty="0" err="1">
                <a:solidFill>
                  <a:srgbClr val="F8F4EE"/>
                </a:solidFill>
                <a:latin typeface="DejaVu Sans"/>
              </a:rPr>
              <a:t>Descuento</a:t>
            </a:r>
            <a:r>
              <a:rPr sz="2700" b="1" dirty="0">
                <a:solidFill>
                  <a:srgbClr val="F8F4EE"/>
                </a:solidFill>
                <a:latin typeface="DejaVu Sans"/>
              </a:rPr>
              <a:t> 10%: $3.000</a:t>
            </a:r>
            <a:br>
              <a:rPr dirty="0"/>
            </a:br>
            <a:r>
              <a:rPr sz="2700" b="1" dirty="0">
                <a:solidFill>
                  <a:srgbClr val="F8F4EE"/>
                </a:solidFill>
                <a:latin typeface="DejaVu Sans"/>
              </a:rPr>
              <a:t>Total $27.000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8E0AFCA-CC85-4746-972E-8352A634B5D9}"/>
              </a:ext>
            </a:extLst>
          </p:cNvPr>
          <p:cNvSpPr>
            <a:spLocks noGrp="1"/>
          </p:cNvSpPr>
          <p:nvPr/>
        </p:nvSpPr>
        <p:spPr>
          <a:xfrm>
            <a:off x="742950" y="5410200"/>
            <a:ext cx="10715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CalcularSubtotal calcula precio × cantidad; CalcularDescuento aplica 10% desde $30.000. Ventaja: se reutilizan en consultas. Cuidado: cálculos muy complejos pueden demorar el proceso.</a:t>
            </a:r>
          </a:p>
        </p:txBody>
      </p:sp>
    </p:spTree>
    <p:extLst>
      <p:ext uri="{BB962C8B-B14F-4D97-AF65-F5344CB8AC3E}">
        <p14:creationId xmlns:p14="http://schemas.microsoft.com/office/powerpoint/2010/main" val="1968773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2F14EE64-2924-40B4-83F2-D61A11EE43DF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5F5476-6EC0-40AC-9C97-26323D5E22A7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36A5617-A99E-4E65-AC4E-91857760A7B3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03BAC41-6465-4173-8D4A-002590EB649E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3AD23D4-04F3-4EB9-99B7-79717D746E1D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CDA9209-1C84-4CEC-8FCB-486F05334C58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6CBDCFD-3893-45A7-9B5F-6A581F8F98B9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9C80B72-12BD-4CC4-9588-E04671991881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A91130E-937F-4919-8AB8-C3CCF032BEF8}"/>
              </a:ext>
            </a:extLst>
          </p:cNvPr>
          <p:cNvSpPr>
            <a:spLocks noGrp="1"/>
          </p:cNvSpPr>
          <p:nvPr/>
        </p:nvSpPr>
        <p:spPr>
          <a:xfrm>
            <a:off x="742950" y="542925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F8F4EE"/>
                </a:solidFill>
                <a:latin typeface="DejaVu Sans"/>
              </a:rPr>
              <a:t>Caso 1 · Cálculo en consulta SQL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7E2C920-AE83-455D-A236-4B48A05A6444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85C4764-C680-4371-829D-2BBEC80ED459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D68980A-DC4D-4165-8C13-B2490D11F868}"/>
              </a:ext>
            </a:extLst>
          </p:cNvPr>
          <p:cNvSpPr>
            <a:spLocks noGrp="1"/>
          </p:cNvSpPr>
          <p:nvPr/>
        </p:nvSpPr>
        <p:spPr>
          <a:xfrm>
            <a:off x="742950" y="1476375"/>
            <a:ext cx="2857500" cy="323850"/>
          </a:xfrm>
          <a:prstGeom prst="roundRect">
            <a:avLst>
              <a:gd name="adj" fmla="val 23529"/>
            </a:avLst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729738B-CEC0-43FE-A948-EC2E18B1E63E}"/>
              </a:ext>
            </a:extLst>
          </p:cNvPr>
          <p:cNvSpPr>
            <a:spLocks noGrp="1"/>
          </p:cNvSpPr>
          <p:nvPr/>
        </p:nvSpPr>
        <p:spPr>
          <a:xfrm>
            <a:off x="838200" y="15144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PRUEBA DE FUNCIONES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ED2A7C7-4750-4ACC-9878-97E5E028EE4D}"/>
              </a:ext>
            </a:extLst>
          </p:cNvPr>
          <p:cNvSpPr>
            <a:spLocks noGrp="1"/>
          </p:cNvSpPr>
          <p:nvPr/>
        </p:nvSpPr>
        <p:spPr>
          <a:xfrm>
            <a:off x="742950" y="5524500"/>
            <a:ext cx="10715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La consulta prueba 1, 2 y 3 balones. Al llegar a $30.000, aplica $3.000 de descuento; con $45.000, aplica $4.500.</a:t>
            </a:r>
          </a:p>
        </p:txBody>
      </p:sp>
      <p:pic>
        <p:nvPicPr>
          <p:cNvPr id="17" name="Picture 16" descr="image(20261025-22540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956816"/>
            <a:ext cx="5715000" cy="302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32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36415181-956F-41BB-BB3B-76DA5C994BB0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83EE628-9B6F-44C5-B9C0-C9D92CD39BA8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4D488A5-69EF-4B09-BBD7-D960DF16AA82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8E7037F-19D9-44DF-9650-648805CA6FA6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FE55381-749D-440A-AB9F-7EBFE3C1D4F2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029FD54-827E-4D5E-A4EC-ED9C449C7D53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AC3AD72-4C83-48AB-9885-337DD410E9C8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3A5FAEF-B2B9-4B35-B5CC-BD28E93379A1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D5622D1-7931-4FEB-91A0-9E698ADA7557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PACKAGE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976F564-1C6A-4564-97C5-70BA7E764AFF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F8F4EE"/>
                </a:solidFill>
                <a:latin typeface="DejaVu Sans"/>
              </a:rPr>
              <a:t>Caso 2 · Registrar la venta completa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822688E-677B-4FAC-BD57-DACF9E6D50DE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F4605E4-C6B0-44C1-AE34-0EB22467B949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4B08D9F-9369-4CBB-8DE3-D268BF776955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7620000" cy="3048000"/>
          </a:xfrm>
          <a:prstGeom prst="roundRect">
            <a:avLst>
              <a:gd name="adj" fmla="val 2500"/>
            </a:avLst>
          </a:prstGeom>
          <a:solidFill>
            <a:srgbClr val="1E263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9BA3B88-D596-4B71-9AF8-54499AF83129}"/>
              </a:ext>
            </a:extLst>
          </p:cNvPr>
          <p:cNvSpPr>
            <a:spLocks noGrp="1"/>
          </p:cNvSpPr>
          <p:nvPr/>
        </p:nvSpPr>
        <p:spPr>
          <a:xfrm>
            <a:off x="914400" y="1933575"/>
            <a:ext cx="38100" cy="2095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8E0CECF-979D-4B92-B3F4-29C92CD5EF44}"/>
              </a:ext>
            </a:extLst>
          </p:cNvPr>
          <p:cNvSpPr>
            <a:spLocks noGrp="1"/>
          </p:cNvSpPr>
          <p:nvPr/>
        </p:nvSpPr>
        <p:spPr>
          <a:xfrm>
            <a:off x="1047750" y="1943100"/>
            <a:ext cx="7096125" cy="2714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65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65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65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65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65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65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65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65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65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defRPr sz="165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>
                <a:solidFill>
                  <a:srgbClr val="F8F4EE"/>
                </a:solidFill>
                <a:latin typeface="DejaVu Sans Mono"/>
              </a:rPr>
              <a:t>CREATE OR REPLACE PACKAGE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PkgVentas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 IS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  PROCEDURE RegistrarVenta (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   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p_id_empleado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 IN NUMBER,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   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p_id_producto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 IN NUMBER,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   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p_cantidad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 IN NUMBER,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   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p_id_venta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 OUT NUMBER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  );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END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PkgVentas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;</a:t>
            </a:r>
            <a:endParaRPr lang="es-CL" sz="1200" b="0" dirty="0">
              <a:solidFill>
                <a:srgbClr val="F8F4EE"/>
              </a:solidFill>
              <a:latin typeface="DejaVu Sans Mono"/>
            </a:endParaRPr>
          </a:p>
          <a:p>
            <a:pPr>
              <a:defRPr sz="165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pPr>
            <a:endParaRPr lang="es-CL" sz="1200" b="0" dirty="0">
              <a:solidFill>
                <a:srgbClr val="F8F4EE"/>
              </a:solidFill>
              <a:latin typeface="DejaVu Sans Mono"/>
            </a:endParaRPr>
          </a:p>
          <a:p>
            <a:pPr>
              <a:defRPr sz="165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s-CL" sz="1200" b="0" dirty="0">
                <a:solidFill>
                  <a:srgbClr val="F8F4EE"/>
                </a:solidFill>
                <a:latin typeface="DejaVu Sans Mono"/>
              </a:rPr>
              <a:t>BODY</a:t>
            </a:r>
          </a:p>
          <a:p>
            <a:r>
              <a:rPr lang="es-ES" sz="1200" dirty="0"/>
              <a:t>SELECT </a:t>
            </a:r>
            <a:r>
              <a:rPr lang="es-ES" sz="1200" dirty="0" err="1"/>
              <a:t>id_tienda</a:t>
            </a:r>
            <a:r>
              <a:rPr lang="es-ES" sz="1200" dirty="0"/>
              <a:t> INTO </a:t>
            </a:r>
            <a:r>
              <a:rPr lang="es-ES" sz="1200" dirty="0" err="1"/>
              <a:t>p_id_tienda</a:t>
            </a:r>
            <a:endParaRPr lang="es-ES" sz="1200" dirty="0"/>
          </a:p>
          <a:p>
            <a:r>
              <a:rPr lang="es-ES" sz="1200" dirty="0"/>
              <a:t>        FROM Empleado WHERE </a:t>
            </a:r>
            <a:r>
              <a:rPr lang="es-ES" sz="1200" dirty="0" err="1"/>
              <a:t>id_empleado</a:t>
            </a:r>
            <a:r>
              <a:rPr lang="es-ES" sz="1200" dirty="0"/>
              <a:t> = </a:t>
            </a:r>
            <a:r>
              <a:rPr lang="es-ES" sz="1200" dirty="0" err="1"/>
              <a:t>p_id_empleado</a:t>
            </a:r>
            <a:r>
              <a:rPr lang="es-ES" sz="1200" dirty="0"/>
              <a:t>;</a:t>
            </a:r>
          </a:p>
          <a:p>
            <a:r>
              <a:rPr lang="es-ES" sz="1200" dirty="0"/>
              <a:t>        SELECT </a:t>
            </a:r>
            <a:r>
              <a:rPr lang="es-ES" sz="1200" dirty="0" err="1"/>
              <a:t>valor_unitario</a:t>
            </a:r>
            <a:r>
              <a:rPr lang="es-ES" sz="1200" dirty="0"/>
              <a:t> INTO </a:t>
            </a:r>
            <a:r>
              <a:rPr lang="es-ES" sz="1200" dirty="0" err="1"/>
              <a:t>p_precio</a:t>
            </a:r>
            <a:endParaRPr lang="es-ES" sz="1200" dirty="0"/>
          </a:p>
          <a:p>
            <a:r>
              <a:rPr lang="es-ES" sz="1200" dirty="0"/>
              <a:t>        FROM Productos WHERE </a:t>
            </a:r>
            <a:r>
              <a:rPr lang="es-ES" sz="1200" dirty="0" err="1"/>
              <a:t>id_producto</a:t>
            </a:r>
            <a:r>
              <a:rPr lang="es-ES" sz="1200" dirty="0"/>
              <a:t> = </a:t>
            </a:r>
            <a:r>
              <a:rPr lang="es-ES" sz="1200" dirty="0" err="1"/>
              <a:t>p_id_producto</a:t>
            </a:r>
            <a:r>
              <a:rPr lang="es-ES" sz="1200" dirty="0"/>
              <a:t>;</a:t>
            </a:r>
          </a:p>
          <a:p>
            <a:r>
              <a:rPr lang="es-ES" sz="1200" dirty="0"/>
              <a:t>   </a:t>
            </a:r>
          </a:p>
          <a:p>
            <a:pPr>
              <a:defRPr sz="165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pPr>
            <a:endParaRPr sz="1200" b="0" dirty="0">
              <a:solidFill>
                <a:srgbClr val="F8F4EE"/>
              </a:solidFill>
              <a:latin typeface="DejaVu Sans Mono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FC1B9BA-8A4E-4C5E-81D4-1B734EC4DDB3}"/>
              </a:ext>
            </a:extLst>
          </p:cNvPr>
          <p:cNvSpPr>
            <a:spLocks noGrp="1"/>
          </p:cNvSpPr>
          <p:nvPr/>
        </p:nvSpPr>
        <p:spPr>
          <a:xfrm>
            <a:off x="8763000" y="1838325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RegistrarVenta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9B0568B-999D-42EB-A8DE-A68E3FB7172B}"/>
              </a:ext>
            </a:extLst>
          </p:cNvPr>
          <p:cNvSpPr>
            <a:spLocks noGrp="1"/>
          </p:cNvSpPr>
          <p:nvPr/>
        </p:nvSpPr>
        <p:spPr>
          <a:xfrm>
            <a:off x="8763000" y="2400300"/>
            <a:ext cx="276225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Recibe empleado, producto y cantidad. Revisa los datos, busca el precio y la sucursal, registra la venta y devuelve su folio.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85C86BF-AF8E-44BD-AE82-8CE517A3503F}"/>
              </a:ext>
            </a:extLst>
          </p:cNvPr>
          <p:cNvSpPr>
            <a:spLocks noGrp="1"/>
          </p:cNvSpPr>
          <p:nvPr/>
        </p:nvSpPr>
        <p:spPr>
          <a:xfrm>
            <a:off x="742950" y="5267325"/>
            <a:ext cx="10715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RegistrarVenta queda disponible para otros procesos; ValidarDatos se usa dentro del paquete. Este paquete reúne las reglas para registrar una venta. Así el proceso queda ordenado y se puede reutilizar; si crece demasiado, cuesta mantenerlo.</a:t>
            </a:r>
          </a:p>
        </p:txBody>
      </p:sp>
    </p:spTree>
    <p:extLst>
      <p:ext uri="{BB962C8B-B14F-4D97-AF65-F5344CB8AC3E}">
        <p14:creationId xmlns:p14="http://schemas.microsoft.com/office/powerpoint/2010/main" val="422186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30E06247-69C9-4B54-B1B3-146A1A6C4DE1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0F7559D-7FD2-4CCA-A661-431A0AC695B3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058871C-6E0E-4218-B861-A3C7A9104C4C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E18149C-F08D-4F14-BF92-83CFEC02FAFA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21C6427-C06E-44C2-9D21-8A430B56A5EA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3BB9CB-4793-4A7A-A0FA-0B5DBBE15758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2A6F4B9-D7DF-417E-A51D-80F53A7CB5E8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414638E-5A96-4A79-A460-88DFFF5A76C3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89C765-822A-43E4-A52A-BFD151D176E8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TRIGGER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AEB27D8-7E25-4E88-975F-AF6A434C055D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F8F4EE"/>
                </a:solidFill>
                <a:latin typeface="DejaVu Sans"/>
              </a:rPr>
              <a:t>Los triggers protegen cada venta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0697EC3-FB4E-40EA-BC3E-D5689E391C05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15340D0-6CA7-4366-B61B-F4B0240FAA55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5C9CE5A-891A-4C8A-AF15-58DC893AEE6A}"/>
              </a:ext>
            </a:extLst>
          </p:cNvPr>
          <p:cNvSpPr>
            <a:spLocks noGrp="1"/>
          </p:cNvSpPr>
          <p:nvPr/>
        </p:nvSpPr>
        <p:spPr>
          <a:xfrm>
            <a:off x="742950" y="1743075"/>
            <a:ext cx="8239125" cy="3476625"/>
          </a:xfrm>
          <a:prstGeom prst="roundRect">
            <a:avLst>
              <a:gd name="adj" fmla="val 2192"/>
            </a:avLst>
          </a:prstGeom>
          <a:solidFill>
            <a:srgbClr val="1E263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D85366E-40E0-40D3-BA09-494C425180CA}"/>
              </a:ext>
            </a:extLst>
          </p:cNvPr>
          <p:cNvSpPr>
            <a:spLocks noGrp="1"/>
          </p:cNvSpPr>
          <p:nvPr/>
        </p:nvSpPr>
        <p:spPr>
          <a:xfrm>
            <a:off x="914400" y="1914525"/>
            <a:ext cx="38100" cy="2095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7E5BFA6-03B2-4926-9B65-8936CBCF1B9A}"/>
              </a:ext>
            </a:extLst>
          </p:cNvPr>
          <p:cNvSpPr>
            <a:spLocks noGrp="1"/>
          </p:cNvSpPr>
          <p:nvPr/>
        </p:nvSpPr>
        <p:spPr>
          <a:xfrm>
            <a:off x="1047750" y="1924050"/>
            <a:ext cx="7715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dirty="0">
                <a:solidFill>
                  <a:srgbClr val="F8F4EE"/>
                </a:solidFill>
                <a:latin typeface="DejaVu Sans Mono"/>
              </a:rPr>
              <a:t>CREATE OR REPLACE TRIGGER TrgDetalleStock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BEFORE INSERT ON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Detalle_venta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FOR EACH ROW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DECLARE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v_stock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Productos.stock%TYPE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;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BEGIN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  SELECT stock INTO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v_stock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 FROM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Productos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  WHERE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id_producto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 = :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NEW.id_producto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 FOR UPDATE;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  IF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v_stock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 &lt; :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NEW.cantidad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 THEN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    RAISE_APPLICATION_ERROR(-20003, 'Stock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insuficiente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');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  END IF;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  UPDATE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Productos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 SET stock = stock - :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NEW.cantidad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  WHERE 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id_producto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 = :</a:t>
            </a:r>
            <a:r>
              <a:rPr sz="1200" b="0" dirty="0" err="1">
                <a:solidFill>
                  <a:srgbClr val="F8F4EE"/>
                </a:solidFill>
                <a:latin typeface="DejaVu Sans Mono"/>
              </a:rPr>
              <a:t>NEW.id_producto</a:t>
            </a:r>
            <a:r>
              <a:rPr sz="1200" b="0" dirty="0">
                <a:solidFill>
                  <a:srgbClr val="F8F4EE"/>
                </a:solidFill>
                <a:latin typeface="DejaVu Sans Mono"/>
              </a:rPr>
              <a:t>;</a:t>
            </a:r>
            <a:br>
              <a:rPr dirty="0"/>
            </a:br>
            <a:r>
              <a:rPr sz="1200" b="0" dirty="0">
                <a:solidFill>
                  <a:srgbClr val="F8F4EE"/>
                </a:solidFill>
                <a:latin typeface="DejaVu Sans Mono"/>
              </a:rPr>
              <a:t>END;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2A004DF-A17D-4584-AA19-9825B8C1A240}"/>
              </a:ext>
            </a:extLst>
          </p:cNvPr>
          <p:cNvSpPr>
            <a:spLocks noGrp="1"/>
          </p:cNvSpPr>
          <p:nvPr/>
        </p:nvSpPr>
        <p:spPr>
          <a:xfrm>
            <a:off x="9525000" y="2076450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9A3D"/>
                </a:solidFill>
                <a:latin typeface="DejaVu Sans"/>
              </a:rPr>
              <a:t>30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7533236-640D-4E8E-AA58-E7AB3B905E51}"/>
              </a:ext>
            </a:extLst>
          </p:cNvPr>
          <p:cNvSpPr>
            <a:spLocks noGrp="1"/>
          </p:cNvSpPr>
          <p:nvPr/>
        </p:nvSpPr>
        <p:spPr>
          <a:xfrm>
            <a:off x="9525000" y="2762250"/>
            <a:ext cx="1714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8F4EE"/>
                </a:solidFill>
                <a:latin typeface="DejaVu Sans"/>
              </a:rPr>
              <a:t>unidades al inicio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6C4E393-46C2-43A9-9061-3966B8D5B145}"/>
              </a:ext>
            </a:extLst>
          </p:cNvPr>
          <p:cNvSpPr>
            <a:spLocks noGrp="1"/>
          </p:cNvSpPr>
          <p:nvPr/>
        </p:nvSpPr>
        <p:spPr>
          <a:xfrm>
            <a:off x="9525000" y="3714750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9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9A3D"/>
                </a:solidFill>
                <a:latin typeface="DejaVu Sans"/>
              </a:rPr>
              <a:t>27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5A7D8D9-D3CB-4242-92BE-2FBFB1764DD4}"/>
              </a:ext>
            </a:extLst>
          </p:cNvPr>
          <p:cNvSpPr>
            <a:spLocks noGrp="1"/>
          </p:cNvSpPr>
          <p:nvPr/>
        </p:nvSpPr>
        <p:spPr>
          <a:xfrm>
            <a:off x="9525000" y="4429125"/>
            <a:ext cx="190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8F4EE"/>
                </a:solidFill>
                <a:latin typeface="DejaVu Sans"/>
              </a:rPr>
              <a:t>tras vender 3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AEECE5C-117A-4DED-BCB6-CC9393F04FB3}"/>
              </a:ext>
            </a:extLst>
          </p:cNvPr>
          <p:cNvSpPr>
            <a:spLocks noGrp="1"/>
          </p:cNvSpPr>
          <p:nvPr/>
        </p:nvSpPr>
        <p:spPr>
          <a:xfrm>
            <a:off x="742950" y="5495925"/>
            <a:ext cx="10715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Un trigger es una acción automática que se ejecuta al cambiar datos. TrgDetalleStock revisa y descuenta existencias por cada venta. Otros triggers impiden alterar ventas confirmadas y registran cambios de precio. Ayudan a mantener el control, aunque sus efectos pueden ser menos visibles al revisar un error.</a:t>
            </a:r>
          </a:p>
        </p:txBody>
      </p:sp>
    </p:spTree>
    <p:extLst>
      <p:ext uri="{BB962C8B-B14F-4D97-AF65-F5344CB8AC3E}">
        <p14:creationId xmlns:p14="http://schemas.microsoft.com/office/powerpoint/2010/main" val="593169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9C7AA7-D3B6-2467-BDA3-B99BB2A8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54FA103A-4AE6-B703-6D08-AEB0F71D2E66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5F83C5E-6BA4-3423-0584-C7581A4BCBBC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B756719-8BFF-3334-5008-9542B656395C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E90FF9-42C3-AC50-F521-164F75B35A26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CF1A6E-33E1-A5AD-7AC8-D7FACD28E6DF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09D02C4-8BB2-7021-1E80-58A04FF37B00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E5AA45C-FCAD-05F9-65AE-6CCFB616AA59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BA23A52-9B15-F72D-C5F5-CD3D9347C4F3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3266FB-7958-98CE-D8E0-C42539CBCD5E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TRIGGER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D957E03-6DFE-D913-FF20-6709DA64502D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lang="es-CL" dirty="0"/>
              <a:t>El procedimiento registra la venta</a:t>
            </a:r>
            <a:endParaRPr sz="3075" b="1" dirty="0">
              <a:solidFill>
                <a:srgbClr val="F8F4EE"/>
              </a:solidFill>
              <a:latin typeface="DejaVu San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492E55B-8398-754B-98D6-D068980739A7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4E7E83D-001A-F1D5-FA65-C15B8733A91B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0D6199DE-71A8-A8D7-2DC4-CB6F5E151BBA}"/>
              </a:ext>
            </a:extLst>
          </p:cNvPr>
          <p:cNvSpPr>
            <a:spLocks noGrp="1"/>
          </p:cNvSpPr>
          <p:nvPr/>
        </p:nvSpPr>
        <p:spPr>
          <a:xfrm>
            <a:off x="742950" y="1743075"/>
            <a:ext cx="8239125" cy="3476625"/>
          </a:xfrm>
          <a:prstGeom prst="roundRect">
            <a:avLst>
              <a:gd name="adj" fmla="val 2192"/>
            </a:avLst>
          </a:prstGeom>
          <a:solidFill>
            <a:srgbClr val="1E263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92CB37F-DA24-9DCF-CCE0-76142F827BBD}"/>
              </a:ext>
            </a:extLst>
          </p:cNvPr>
          <p:cNvSpPr>
            <a:spLocks noGrp="1"/>
          </p:cNvSpPr>
          <p:nvPr/>
        </p:nvSpPr>
        <p:spPr>
          <a:xfrm>
            <a:off x="914400" y="1914525"/>
            <a:ext cx="38100" cy="2095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A4EE2D1-2A7D-7468-296A-A55941CF1A54}"/>
              </a:ext>
            </a:extLst>
          </p:cNvPr>
          <p:cNvSpPr>
            <a:spLocks noGrp="1"/>
          </p:cNvSpPr>
          <p:nvPr/>
        </p:nvSpPr>
        <p:spPr>
          <a:xfrm>
            <a:off x="1047750" y="1924050"/>
            <a:ext cx="7715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00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r>
              <a:rPr lang="es-ES" sz="1200" dirty="0"/>
              <a:t>PROCEDURE </a:t>
            </a:r>
            <a:r>
              <a:rPr lang="es-ES" sz="1200" dirty="0" err="1"/>
              <a:t>RegistrarVenta</a:t>
            </a:r>
            <a:endParaRPr lang="es-ES" sz="1200" dirty="0"/>
          </a:p>
          <a:p>
            <a:r>
              <a:rPr lang="es-ES" sz="1200" dirty="0"/>
              <a:t>SAVEPOINT </a:t>
            </a:r>
            <a:r>
              <a:rPr lang="es-ES" sz="1200" dirty="0" err="1"/>
              <a:t>inicio_venta</a:t>
            </a:r>
            <a:r>
              <a:rPr lang="es-ES" sz="1200" dirty="0"/>
              <a:t>;</a:t>
            </a:r>
          </a:p>
          <a:p>
            <a:r>
              <a:rPr lang="es-ES" sz="1200" dirty="0"/>
              <a:t>        </a:t>
            </a:r>
            <a:r>
              <a:rPr lang="es-ES" sz="1200" dirty="0" err="1"/>
              <a:t>ValidarDatos</a:t>
            </a:r>
            <a:r>
              <a:rPr lang="es-ES" sz="1200" dirty="0"/>
              <a:t>(</a:t>
            </a:r>
            <a:r>
              <a:rPr lang="es-ES" sz="1200" dirty="0" err="1"/>
              <a:t>p_id_empleado</a:t>
            </a:r>
            <a:r>
              <a:rPr lang="es-ES" sz="1200" dirty="0"/>
              <a:t>, </a:t>
            </a:r>
            <a:r>
              <a:rPr lang="es-ES" sz="1200" dirty="0" err="1"/>
              <a:t>p_id_producto</a:t>
            </a:r>
            <a:r>
              <a:rPr lang="es-ES" sz="1200" dirty="0"/>
              <a:t>, </a:t>
            </a:r>
            <a:r>
              <a:rPr lang="es-ES" sz="1200" dirty="0" err="1"/>
              <a:t>p_cantidad</a:t>
            </a:r>
            <a:r>
              <a:rPr lang="es-ES" sz="1200" dirty="0"/>
              <a:t>, </a:t>
            </a:r>
            <a:r>
              <a:rPr lang="es-ES" sz="1200" dirty="0" err="1"/>
              <a:t>v_id_tienda</a:t>
            </a:r>
            <a:r>
              <a:rPr lang="es-ES" sz="1200" dirty="0"/>
              <a:t>, </a:t>
            </a:r>
            <a:r>
              <a:rPr lang="es-ES" sz="1200" dirty="0" err="1"/>
              <a:t>v_precio</a:t>
            </a:r>
            <a:r>
              <a:rPr lang="es-ES" sz="1200" dirty="0"/>
              <a:t>);</a:t>
            </a:r>
          </a:p>
          <a:p>
            <a:r>
              <a:rPr lang="es-ES" sz="1200" dirty="0"/>
              <a:t>        </a:t>
            </a:r>
            <a:r>
              <a:rPr lang="es-ES" sz="1200" dirty="0" err="1"/>
              <a:t>v_subtotal</a:t>
            </a:r>
            <a:r>
              <a:rPr lang="es-ES" sz="1200" dirty="0"/>
              <a:t> := ROUND(</a:t>
            </a:r>
            <a:r>
              <a:rPr lang="es-ES" sz="1200" dirty="0" err="1"/>
              <a:t>v_precio</a:t>
            </a:r>
            <a:r>
              <a:rPr lang="es-ES" sz="1200" dirty="0"/>
              <a:t> * </a:t>
            </a:r>
            <a:r>
              <a:rPr lang="es-ES" sz="1200" dirty="0" err="1"/>
              <a:t>p_cantidad</a:t>
            </a:r>
            <a:r>
              <a:rPr lang="es-ES" sz="1200" dirty="0"/>
              <a:t>, 2);</a:t>
            </a:r>
          </a:p>
          <a:p>
            <a:r>
              <a:rPr lang="es-ES" sz="1200" dirty="0"/>
              <a:t>        </a:t>
            </a:r>
            <a:r>
              <a:rPr lang="es-ES" sz="1200" dirty="0" err="1"/>
              <a:t>v_descuento</a:t>
            </a:r>
            <a:r>
              <a:rPr lang="es-ES" sz="1200" dirty="0"/>
              <a:t> := </a:t>
            </a:r>
            <a:r>
              <a:rPr lang="es-ES" sz="1200" dirty="0" err="1"/>
              <a:t>CalcularDescuento</a:t>
            </a:r>
            <a:r>
              <a:rPr lang="es-ES" sz="1200" dirty="0"/>
              <a:t>(</a:t>
            </a:r>
            <a:r>
              <a:rPr lang="es-ES" sz="1200" dirty="0" err="1"/>
              <a:t>v_subtotal</a:t>
            </a:r>
            <a:r>
              <a:rPr lang="es-ES" sz="1200" dirty="0"/>
              <a:t>);</a:t>
            </a:r>
          </a:p>
          <a:p>
            <a:r>
              <a:rPr lang="es-ES" sz="1200" dirty="0"/>
              <a:t>        </a:t>
            </a:r>
            <a:r>
              <a:rPr lang="es-ES" sz="1200" dirty="0" err="1"/>
              <a:t>p_id_venta</a:t>
            </a:r>
            <a:r>
              <a:rPr lang="es-ES" sz="1200" dirty="0"/>
              <a:t> := </a:t>
            </a:r>
            <a:r>
              <a:rPr lang="es-ES" sz="1200" dirty="0" err="1"/>
              <a:t>seq_venta.NEXTVAL</a:t>
            </a:r>
            <a:r>
              <a:rPr lang="es-ES" sz="1200" dirty="0"/>
              <a:t>;</a:t>
            </a:r>
          </a:p>
          <a:p>
            <a:br>
              <a:rPr lang="es-ES" sz="1200" dirty="0"/>
            </a:br>
            <a:endParaRPr lang="es-ES" sz="1200" dirty="0"/>
          </a:p>
          <a:p>
            <a:r>
              <a:rPr lang="es-ES" sz="1200" dirty="0"/>
              <a:t>        INSERT INTO Venta (</a:t>
            </a:r>
            <a:r>
              <a:rPr lang="es-ES" sz="1200" dirty="0" err="1"/>
              <a:t>id_venta</a:t>
            </a:r>
            <a:r>
              <a:rPr lang="es-ES" sz="1200" dirty="0"/>
              <a:t>, </a:t>
            </a:r>
            <a:r>
              <a:rPr lang="es-ES" sz="1200" dirty="0" err="1"/>
              <a:t>fecha_venta</a:t>
            </a:r>
            <a:r>
              <a:rPr lang="es-ES" sz="1200" dirty="0"/>
              <a:t>, </a:t>
            </a:r>
            <a:r>
              <a:rPr lang="es-ES" sz="1200" dirty="0" err="1"/>
              <a:t>id_empleado</a:t>
            </a:r>
            <a:r>
              <a:rPr lang="es-ES" sz="1200" dirty="0"/>
              <a:t>, </a:t>
            </a:r>
            <a:r>
              <a:rPr lang="es-ES" sz="1200" dirty="0" err="1"/>
              <a:t>id_tienda</a:t>
            </a:r>
            <a:r>
              <a:rPr lang="es-ES" sz="1200" dirty="0"/>
              <a:t>, subtotal, descuento, 	</a:t>
            </a:r>
            <a:r>
              <a:rPr lang="es-ES" sz="1200" dirty="0" err="1"/>
              <a:t>total_venta</a:t>
            </a:r>
            <a:r>
              <a:rPr lang="es-ES" sz="1200" dirty="0"/>
              <a:t>)</a:t>
            </a:r>
          </a:p>
          <a:p>
            <a:r>
              <a:rPr lang="es-ES" sz="1200" dirty="0"/>
              <a:t>        VALUES (</a:t>
            </a:r>
            <a:r>
              <a:rPr lang="es-ES" sz="1200" dirty="0" err="1"/>
              <a:t>p_id_venta</a:t>
            </a:r>
            <a:r>
              <a:rPr lang="es-ES" sz="1200" dirty="0"/>
              <a:t>, SYSDATE, </a:t>
            </a:r>
            <a:r>
              <a:rPr lang="es-ES" sz="1200" dirty="0" err="1"/>
              <a:t>p_id_empleado</a:t>
            </a:r>
            <a:r>
              <a:rPr lang="es-ES" sz="1200" dirty="0"/>
              <a:t>, </a:t>
            </a:r>
            <a:r>
              <a:rPr lang="es-ES" sz="1200" dirty="0" err="1"/>
              <a:t>v_id_tienda</a:t>
            </a:r>
            <a:r>
              <a:rPr lang="es-ES" sz="1200" dirty="0"/>
              <a:t>,</a:t>
            </a:r>
          </a:p>
          <a:p>
            <a:r>
              <a:rPr lang="es-ES" sz="1200" dirty="0"/>
              <a:t>                </a:t>
            </a:r>
            <a:r>
              <a:rPr lang="es-ES" sz="1200" dirty="0" err="1"/>
              <a:t>v_subtotal</a:t>
            </a:r>
            <a:r>
              <a:rPr lang="es-ES" sz="1200" dirty="0"/>
              <a:t>, </a:t>
            </a:r>
            <a:r>
              <a:rPr lang="es-ES" sz="1200" dirty="0" err="1"/>
              <a:t>v_descuento</a:t>
            </a:r>
            <a:r>
              <a:rPr lang="es-ES" sz="1200" dirty="0"/>
              <a:t>, </a:t>
            </a:r>
            <a:r>
              <a:rPr lang="es-ES" sz="1200" dirty="0" err="1"/>
              <a:t>v_subtotal</a:t>
            </a:r>
            <a:r>
              <a:rPr lang="es-ES" sz="1200" dirty="0"/>
              <a:t> - </a:t>
            </a:r>
            <a:r>
              <a:rPr lang="es-ES" sz="1200" dirty="0" err="1"/>
              <a:t>v_descuento</a:t>
            </a:r>
            <a:r>
              <a:rPr lang="es-ES" sz="1200" dirty="0"/>
              <a:t>);</a:t>
            </a:r>
          </a:p>
          <a:p>
            <a:r>
              <a:rPr lang="es-ES" sz="1200" dirty="0"/>
              <a:t>DBMS_OUTPUT.PUT_LINE('Venta ' || </a:t>
            </a:r>
            <a:r>
              <a:rPr lang="es-ES" sz="1200" dirty="0" err="1"/>
              <a:t>p_id_venta</a:t>
            </a:r>
            <a:r>
              <a:rPr lang="es-ES" sz="1200" dirty="0"/>
              <a:t> || ' registrada. Total: $' || (</a:t>
            </a:r>
            <a:r>
              <a:rPr lang="es-ES" sz="1200" dirty="0" err="1"/>
              <a:t>v_subtotal</a:t>
            </a:r>
            <a:r>
              <a:rPr lang="es-ES" sz="1200" dirty="0"/>
              <a:t> - </a:t>
            </a:r>
            <a:r>
              <a:rPr lang="es-ES" sz="1200" dirty="0" err="1"/>
              <a:t>v_descuento</a:t>
            </a:r>
            <a:r>
              <a:rPr lang="es-ES" sz="1200" dirty="0"/>
              <a:t>));</a:t>
            </a:r>
          </a:p>
          <a:p>
            <a:endParaRPr lang="es-ES" sz="1200" dirty="0"/>
          </a:p>
          <a:p>
            <a:br>
              <a:rPr lang="es-ES" sz="1200" dirty="0"/>
            </a:br>
            <a:endParaRPr lang="es-ES" sz="1200" dirty="0"/>
          </a:p>
          <a:p>
            <a:endParaRPr lang="es-ES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F57FC0A-740A-0854-3A4E-1A9FA42A7A2D}"/>
              </a:ext>
            </a:extLst>
          </p:cNvPr>
          <p:cNvSpPr>
            <a:spLocks noGrp="1"/>
          </p:cNvSpPr>
          <p:nvPr/>
        </p:nvSpPr>
        <p:spPr>
          <a:xfrm>
            <a:off x="742950" y="5495925"/>
            <a:ext cx="10715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s-CL" dirty="0"/>
              <a:t>el procedimiento nos ayuda a validar los datos de la venta para registrarlo y colocarlos en la tablas correspondiente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9114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5C64AD58-FBD6-496F-BDFE-CBC0120CF906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AFFD1EF-FE45-44F5-8E78-8F1596E713D6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1BDF868-A9CF-4411-AAAB-5C79CA19BEC1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99C967E-D602-44FE-AF4C-800449773E78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98C4E4C-F44D-4E33-9C43-583AA987F795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89D67B-5253-43CB-8A36-C0008803A2A5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CF646C3-CCB5-4361-9538-9E4E02A32A3E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D15FC4-C1E7-4A1F-9C7C-2893CC5D108D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0FCF641-0B1B-4852-836C-68AD911A6DDC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9A3D"/>
                </a:solidFill>
                <a:latin typeface="DejaVu Sans"/>
              </a:rPr>
              <a:t>Caso 2 · Registro de ventas y control de stock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DB7EAAC-0055-4FAB-BC43-1C5F0F53D251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Ventas registradas; stock: 30 → 27 balones.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C9E1609-E606-4D53-9591-AE3B732A7E38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890875C-6FF8-41C4-94FE-5E236D569DB8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pic>
        <p:nvPicPr>
          <p:cNvPr id="35" name="Picture 34" descr="{45B99EEF-C06D-40C2-AF42-5E9A3A52D800}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5960"/>
            <a:ext cx="5577840" cy="2127362"/>
          </a:xfrm>
          <a:prstGeom prst="rect">
            <a:avLst/>
          </a:prstGeom>
        </p:spPr>
      </p:pic>
      <p:pic>
        <p:nvPicPr>
          <p:cNvPr id="36" name="Picture 35" descr="image(10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331720"/>
            <a:ext cx="4892040" cy="95146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2960" y="4343400"/>
            <a:ext cx="539496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>
                <a:solidFill>
                  <a:srgbClr val="F2F4F8"/>
                </a:solidFill>
              </a:rPr>
              <a:t>Dos ventas: $27.000 y $15.000. El stock bajó de 30 a 27 balones.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343400"/>
            <a:ext cx="489204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>
                <a:solidFill>
                  <a:srgbClr val="F2F4F8"/>
                </a:solidFill>
              </a:rPr>
              <a:t>La prueba confirmó las ventas, sus responsables y sucursales, los montos y el stock.</a:t>
            </a:r>
          </a:p>
        </p:txBody>
      </p:sp>
    </p:spTree>
    <p:extLst>
      <p:ext uri="{BB962C8B-B14F-4D97-AF65-F5344CB8AC3E}">
        <p14:creationId xmlns:p14="http://schemas.microsoft.com/office/powerpoint/2010/main" val="1650322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2F14EE64-2924-40B4-83F2-D61A11EE43DF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5F5476-6EC0-40AC-9C97-26323D5E22A7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36A5617-A99E-4E65-AC4E-91857760A7B3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03BAC41-6465-4173-8D4A-002590EB649E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3AD23D4-04F3-4EB9-99B7-79717D746E1D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CDA9209-1C84-4CEC-8FCB-486F05334C58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6CBDCFD-3893-45A7-9B5F-6A581F8F98B9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9C80B72-12BD-4CC4-9588-E04671991881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A91130E-937F-4919-8AB8-C3CCF032BEF8}"/>
              </a:ext>
            </a:extLst>
          </p:cNvPr>
          <p:cNvSpPr>
            <a:spLocks noGrp="1"/>
          </p:cNvSpPr>
          <p:nvPr/>
        </p:nvSpPr>
        <p:spPr>
          <a:xfrm>
            <a:off x="742950" y="542925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F8F4EE"/>
                </a:solidFill>
                <a:latin typeface="DejaVu Sans"/>
              </a:rPr>
              <a:t>Triggers · auditoría y validación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7E2C920-AE83-455D-A236-4B48A05A6444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85C4764-C680-4371-829D-2BBEC80ED459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9A3D"/>
                </a:solidFill>
                <a:latin typeface="DejaVu Sans"/>
              </a:rPr>
              <a:t>13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D68980A-DC4D-4165-8C13-B2490D11F868}"/>
              </a:ext>
            </a:extLst>
          </p:cNvPr>
          <p:cNvSpPr>
            <a:spLocks noGrp="1"/>
          </p:cNvSpPr>
          <p:nvPr/>
        </p:nvSpPr>
        <p:spPr>
          <a:xfrm>
            <a:off x="742950" y="1476375"/>
            <a:ext cx="2857500" cy="323850"/>
          </a:xfrm>
          <a:prstGeom prst="roundRect">
            <a:avLst>
              <a:gd name="adj" fmla="val 23529"/>
            </a:avLst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729738B-CEC0-43FE-A948-EC2E18B1E63E}"/>
              </a:ext>
            </a:extLst>
          </p:cNvPr>
          <p:cNvSpPr>
            <a:spLocks noGrp="1"/>
          </p:cNvSpPr>
          <p:nvPr/>
        </p:nvSpPr>
        <p:spPr>
          <a:xfrm>
            <a:off x="838200" y="15144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PRUEBAS DE LOS TRIGGERS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ED2A7C7-4750-4ACC-9878-97E5E028EE4D}"/>
              </a:ext>
            </a:extLst>
          </p:cNvPr>
          <p:cNvSpPr>
            <a:spLocks noGrp="1"/>
          </p:cNvSpPr>
          <p:nvPr/>
        </p:nvSpPr>
        <p:spPr>
          <a:xfrm>
            <a:off x="742950" y="5524500"/>
            <a:ext cx="10715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AuditoriaCambioPrecio deja constancia del precio anterior y del nuevo. También se comprobó que Oracle detiene una venta si no hay stock o si faltan datos válidos.</a:t>
            </a:r>
          </a:p>
        </p:txBody>
      </p:sp>
      <p:pic>
        <p:nvPicPr>
          <p:cNvPr id="17" name="Picture 16" descr="image-edit-target-5d06107b37b71f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5166360" cy="2246674"/>
          </a:xfrm>
          <a:prstGeom prst="rect">
            <a:avLst/>
          </a:prstGeom>
        </p:spPr>
      </p:pic>
      <p:pic>
        <p:nvPicPr>
          <p:cNvPr id="18" name="Picture 17" descr="image(20261025-22532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11680"/>
            <a:ext cx="5166360" cy="183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" y="4389120"/>
            <a:ext cx="5074920" cy="5909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Se </a:t>
            </a:r>
            <a:r>
              <a:rPr dirty="0" err="1">
                <a:solidFill>
                  <a:schemeClr val="bg1"/>
                </a:solidFill>
              </a:rPr>
              <a:t>cambió</a:t>
            </a:r>
            <a:r>
              <a:rPr dirty="0">
                <a:solidFill>
                  <a:schemeClr val="bg1"/>
                </a:solidFill>
              </a:rPr>
              <a:t> el </a:t>
            </a:r>
            <a:r>
              <a:rPr dirty="0" err="1">
                <a:solidFill>
                  <a:schemeClr val="bg1"/>
                </a:solidFill>
              </a:rPr>
              <a:t>precio</a:t>
            </a:r>
            <a:r>
              <a:rPr dirty="0">
                <a:solidFill>
                  <a:schemeClr val="bg1"/>
                </a:solidFill>
              </a:rPr>
              <a:t> del </a:t>
            </a:r>
            <a:r>
              <a:rPr dirty="0" err="1">
                <a:solidFill>
                  <a:schemeClr val="bg1"/>
                </a:solidFill>
              </a:rPr>
              <a:t>producto</a:t>
            </a:r>
            <a:r>
              <a:rPr dirty="0">
                <a:solidFill>
                  <a:schemeClr val="bg1"/>
                </a:solidFill>
              </a:rPr>
              <a:t> 1 de $8.000 a $8.500; ambos </a:t>
            </a:r>
            <a:r>
              <a:rPr dirty="0" err="1">
                <a:solidFill>
                  <a:schemeClr val="bg1"/>
                </a:solidFill>
              </a:rPr>
              <a:t>valores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quedaron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registrados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389120"/>
            <a:ext cx="5074920" cy="5909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Las </a:t>
            </a:r>
            <a:r>
              <a:rPr dirty="0" err="1">
                <a:solidFill>
                  <a:schemeClr val="bg1"/>
                </a:solidFill>
              </a:rPr>
              <a:t>pruebas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rechazaron</a:t>
            </a:r>
            <a:r>
              <a:rPr dirty="0">
                <a:solidFill>
                  <a:schemeClr val="bg1"/>
                </a:solidFill>
              </a:rPr>
              <a:t> un </a:t>
            </a:r>
            <a:r>
              <a:rPr dirty="0" err="1">
                <a:solidFill>
                  <a:schemeClr val="bg1"/>
                </a:solidFill>
              </a:rPr>
              <a:t>empleado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inexistente</a:t>
            </a:r>
            <a:r>
              <a:rPr dirty="0">
                <a:solidFill>
                  <a:schemeClr val="bg1"/>
                </a:solidFill>
              </a:rPr>
              <a:t> y </a:t>
            </a:r>
            <a:r>
              <a:rPr dirty="0" err="1">
                <a:solidFill>
                  <a:schemeClr val="bg1"/>
                </a:solidFill>
              </a:rPr>
              <a:t>una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cantidad</a:t>
            </a:r>
            <a:r>
              <a:rPr dirty="0">
                <a:solidFill>
                  <a:schemeClr val="bg1"/>
                </a:solidFill>
              </a:rPr>
              <a:t> mayor al stock disponible.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5BAAAC4B-144D-4E74-92F7-FC8289399501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8C726A6-B7D6-4E85-9701-007F58CBA733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D5F5C0-1FF7-4CC5-8D67-344BEA03134A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A553AAE-EF46-4834-9358-8EE92D22BB84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4FDE5AD-3162-4550-9A2B-4CE11702882A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642AA28-8025-44BA-9D56-E3CECCBE24FE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4B71A56-1F2B-4092-AEE0-BC7295A2482F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6834F46-F0B6-4E8A-A0DD-B55CF4793B93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74AA41C-6429-4ECA-9BC2-54C2B3407011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PROCEDIMIENTO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93ACAED-F88E-4116-96D4-5881FD4DB42B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Caso 3 · Cada empleado revisa su día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167EA95-F1C5-4901-A8EA-5E332B9E7460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D29813E-8921-4ED5-B0EF-982D79C7BA0B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4C9E732-7888-490B-BD05-E319DE4F8EE3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8239125" cy="3333750"/>
          </a:xfrm>
          <a:prstGeom prst="roundRect">
            <a:avLst>
              <a:gd name="adj" fmla="val 2286"/>
            </a:avLst>
          </a:prstGeom>
          <a:solidFill>
            <a:srgbClr val="1E263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5A41BA2-650D-48B5-A864-FF129B69ED0A}"/>
              </a:ext>
            </a:extLst>
          </p:cNvPr>
          <p:cNvSpPr>
            <a:spLocks noGrp="1"/>
          </p:cNvSpPr>
          <p:nvPr/>
        </p:nvSpPr>
        <p:spPr>
          <a:xfrm>
            <a:off x="914400" y="1933575"/>
            <a:ext cx="38100" cy="2095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6528F89-6E6F-40DD-9FA5-FADFC64BCC07}"/>
              </a:ext>
            </a:extLst>
          </p:cNvPr>
          <p:cNvSpPr>
            <a:spLocks noGrp="1"/>
          </p:cNvSpPr>
          <p:nvPr/>
        </p:nvSpPr>
        <p:spPr>
          <a:xfrm>
            <a:off x="1047750" y="1943100"/>
            <a:ext cx="771525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575" b="0">
                <a:solidFill>
                  <a:srgbClr val="F8F4EE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r>
              <a:rPr sz="1200"/>
              <a:t>CREATE OR REPLACE PROCEDURE ResumenEmpleado (</a:t>
            </a:r>
          </a:p>
          <a:p>
            <a:r>
              <a:rPr sz="1200"/>
              <a:t>  p_id_empleado IN NUMBER</a:t>
            </a:r>
          </a:p>
          <a:p>
            <a:r>
              <a:rPr sz="1200"/>
              <a:t>) IS</a:t>
            </a:r>
          </a:p>
          <a:p>
            <a:r>
              <a:rPr sz="1200"/>
              <a:t>  v_cantidad NUMBER;</a:t>
            </a:r>
          </a:p>
          <a:p>
            <a:r>
              <a:rPr sz="1200"/>
              <a:t>  v_total NUMBER;</a:t>
            </a:r>
          </a:p>
          <a:p>
            <a:r>
              <a:rPr sz="1200"/>
              <a:t>BEGIN</a:t>
            </a:r>
          </a:p>
          <a:p>
            <a:r>
              <a:rPr sz="1200"/>
              <a:t>  SELECT COUNT(*), NVL(SUM(total_venta), 0)</a:t>
            </a:r>
          </a:p>
          <a:p>
            <a:r>
              <a:rPr sz="1200"/>
              <a:t>  INTO v_cantidad, v_total</a:t>
            </a:r>
          </a:p>
          <a:p>
            <a:r>
              <a:rPr sz="1200"/>
              <a:t>  FROM Venta</a:t>
            </a:r>
          </a:p>
          <a:p>
            <a:r>
              <a:rPr sz="1200"/>
              <a:t>  WHERE id_empleado = p_id_empleado</a:t>
            </a:r>
          </a:p>
          <a:p>
            <a:r>
              <a:rPr sz="1200"/>
              <a:t>    AND fecha_venta &gt;= TRUNC(SYSDATE)</a:t>
            </a:r>
          </a:p>
          <a:p>
            <a:r>
              <a:rPr sz="1200"/>
              <a:t>    AND fecha_venta &lt; TRUNC(SYSDATE) + 1;</a:t>
            </a:r>
          </a:p>
          <a:p>
            <a:r>
              <a:rPr sz="1200"/>
              <a:t>  DBMS_OUTPUT.PUT_LINE('Total: $' || v_total);</a:t>
            </a:r>
          </a:p>
          <a:p>
            <a:r>
              <a:rPr sz="1200"/>
              <a:t>END;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7BE8C86-28CA-481B-82A4-5A1F6C4626A0}"/>
              </a:ext>
            </a:extLst>
          </p:cNvPr>
          <p:cNvSpPr>
            <a:spLocks noGrp="1"/>
          </p:cNvSpPr>
          <p:nvPr/>
        </p:nvSpPr>
        <p:spPr>
          <a:xfrm>
            <a:off x="9358312" y="1419225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95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dirty="0">
                <a:solidFill>
                  <a:srgbClr val="FF9A3D"/>
                </a:solidFill>
                <a:latin typeface="DejaVu Sans"/>
              </a:rPr>
              <a:t>Dos formas de </a:t>
            </a:r>
            <a:r>
              <a:rPr sz="1950" b="1" dirty="0" err="1">
                <a:solidFill>
                  <a:srgbClr val="FF9A3D"/>
                </a:solidFill>
                <a:latin typeface="DejaVu Sans"/>
              </a:rPr>
              <a:t>consultar</a:t>
            </a:r>
            <a:endParaRPr sz="1950" b="1" dirty="0">
              <a:solidFill>
                <a:srgbClr val="FF9A3D"/>
              </a:solidFill>
              <a:latin typeface="DejaVu Sans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D22569A-9220-4D1C-9E7A-F7B92453DB0F}"/>
              </a:ext>
            </a:extLst>
          </p:cNvPr>
          <p:cNvSpPr>
            <a:spLocks noGrp="1"/>
          </p:cNvSpPr>
          <p:nvPr/>
        </p:nvSpPr>
        <p:spPr>
          <a:xfrm>
            <a:off x="9310687" y="2205037"/>
            <a:ext cx="2333625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dirty="0" err="1"/>
              <a:t>ResumenEmpleado</a:t>
            </a:r>
            <a:r>
              <a:rPr dirty="0"/>
              <a:t> </a:t>
            </a:r>
            <a:r>
              <a:rPr dirty="0" err="1"/>
              <a:t>muestra</a:t>
            </a:r>
            <a:r>
              <a:rPr dirty="0"/>
              <a:t> lo </a:t>
            </a:r>
            <a:r>
              <a:rPr dirty="0" err="1"/>
              <a:t>vendido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persona. </a:t>
            </a:r>
            <a:r>
              <a:rPr dirty="0" err="1"/>
              <a:t>ResumenHoy</a:t>
            </a:r>
            <a:r>
              <a:rPr dirty="0"/>
              <a:t> </a:t>
            </a:r>
            <a:r>
              <a:rPr dirty="0" err="1"/>
              <a:t>recorre</a:t>
            </a:r>
            <a:r>
              <a:rPr dirty="0"/>
              <a:t> las </a:t>
            </a:r>
            <a:r>
              <a:rPr dirty="0" err="1"/>
              <a:t>ventas</a:t>
            </a:r>
            <a:r>
              <a:rPr dirty="0"/>
              <a:t> del día. </a:t>
            </a:r>
            <a:r>
              <a:rPr dirty="0" err="1"/>
              <a:t>TotalVendidoHoy</a:t>
            </a:r>
            <a:r>
              <a:rPr dirty="0"/>
              <a:t> </a:t>
            </a:r>
            <a:r>
              <a:rPr dirty="0" err="1"/>
              <a:t>entrega</a:t>
            </a:r>
            <a:r>
              <a:rPr dirty="0"/>
              <a:t> la </a:t>
            </a:r>
            <a:r>
              <a:rPr dirty="0" err="1"/>
              <a:t>suma</a:t>
            </a:r>
            <a:r>
              <a:rPr dirty="0"/>
              <a:t> general.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912CFC8-364D-4D72-A061-C29BCE853E05}"/>
              </a:ext>
            </a:extLst>
          </p:cNvPr>
          <p:cNvSpPr>
            <a:spLocks noGrp="1"/>
          </p:cNvSpPr>
          <p:nvPr/>
        </p:nvSpPr>
        <p:spPr>
          <a:xfrm>
            <a:off x="742950" y="5410200"/>
            <a:ext cx="10715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Un procedimiento realiza una acción y una función devuelve un resultado. Ambos pueden recibir datos o trabajar sin parámetros. Se reutilizan en otros procesos, pero es importante validar los datos para evitar errores.</a:t>
            </a:r>
          </a:p>
        </p:txBody>
      </p:sp>
    </p:spTree>
    <p:extLst>
      <p:ext uri="{BB962C8B-B14F-4D97-AF65-F5344CB8AC3E}">
        <p14:creationId xmlns:p14="http://schemas.microsoft.com/office/powerpoint/2010/main" val="1605501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2F14EE64-2924-40B4-83F2-D61A11EE43DF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5F5476-6EC0-40AC-9C97-26323D5E22A7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36A5617-A99E-4E65-AC4E-91857760A7B3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03BAC41-6465-4173-8D4A-002590EB649E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3AD23D4-04F3-4EB9-99B7-79717D746E1D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CDA9209-1C84-4CEC-8FCB-486F05334C58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6CBDCFD-3893-45A7-9B5F-6A581F8F98B9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9C80B72-12BD-4CC4-9588-E04671991881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A91130E-937F-4919-8AB8-C3CCF032BEF8}"/>
              </a:ext>
            </a:extLst>
          </p:cNvPr>
          <p:cNvSpPr>
            <a:spLocks noGrp="1"/>
          </p:cNvSpPr>
          <p:nvPr/>
        </p:nvSpPr>
        <p:spPr>
          <a:xfrm>
            <a:off x="742950" y="542925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F8F4EE"/>
                </a:solidFill>
                <a:latin typeface="DejaVu Sans"/>
              </a:rPr>
              <a:t>Caso 3 · Resumen diario comprobado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7E2C920-AE83-455D-A236-4B48A05A6444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85C4764-C680-4371-829D-2BBEC80ED459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9A3D"/>
                </a:solidFill>
                <a:latin typeface="DejaVu Sans"/>
              </a:rPr>
              <a:t>12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D68980A-DC4D-4165-8C13-B2490D11F868}"/>
              </a:ext>
            </a:extLst>
          </p:cNvPr>
          <p:cNvSpPr>
            <a:spLocks noGrp="1"/>
          </p:cNvSpPr>
          <p:nvPr/>
        </p:nvSpPr>
        <p:spPr>
          <a:xfrm>
            <a:off x="742950" y="1476375"/>
            <a:ext cx="2857500" cy="323850"/>
          </a:xfrm>
          <a:prstGeom prst="roundRect">
            <a:avLst>
              <a:gd name="adj" fmla="val 23529"/>
            </a:avLst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729738B-CEC0-43FE-A948-EC2E18B1E63E}"/>
              </a:ext>
            </a:extLst>
          </p:cNvPr>
          <p:cNvSpPr>
            <a:spLocks noGrp="1"/>
          </p:cNvSpPr>
          <p:nvPr/>
        </p:nvSpPr>
        <p:spPr>
          <a:xfrm>
            <a:off x="838200" y="15144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111722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11722"/>
                </a:solidFill>
                <a:latin typeface="DejaVu Sans"/>
              </a:rPr>
              <a:t>SALIDA SQL · 25-10-2026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ED2A7C7-4750-4ACC-9878-97E5E028EE4D}"/>
              </a:ext>
            </a:extLst>
          </p:cNvPr>
          <p:cNvSpPr>
            <a:spLocks noGrp="1"/>
          </p:cNvSpPr>
          <p:nvPr/>
        </p:nvSpPr>
        <p:spPr>
          <a:xfrm>
            <a:off x="742950" y="5524500"/>
            <a:ext cx="10715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ResumenHoy muestra dos ventas por $27.000 y $15.000. TotalVendidoHoy confirma el total de $42.000. ResumenEmpleado permite revisar cuánto vendió cada persona.</a:t>
            </a:r>
          </a:p>
        </p:txBody>
      </p:sp>
      <p:pic>
        <p:nvPicPr>
          <p:cNvPr id="17" name="Picture 16" descr="{2F0A497D-63C4-4EE6-89C2-E915D0CBC026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975104"/>
            <a:ext cx="7635240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390F088B-3A37-4C9E-82AA-3BDCE4901544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78AF9F1-A791-400F-9B1A-2A3596EB2AFA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8F98AA7-5923-4195-9F64-263564C4F2D6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83FDCF3-8EE2-4A02-A1B8-8908497D548C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3804F4E-1F81-4C73-993D-5324EF3136FC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7D7491E-DF55-481F-865A-1F0A60F415FA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DC607AA-4D04-483D-96C9-3BD0422E0F9F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5F832AC-68C5-4824-A65E-57C64F7F0D2F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EA09DDB-C91E-4100-B7E3-2C58906300BF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9A3D"/>
                </a:solidFill>
                <a:latin typeface="DejaVu Sans"/>
              </a:rPr>
              <a:t>SALIDA DEL PROCEDIMIENTO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431546B-4A78-4116-9CD8-4EB733406E6F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F8F4EE"/>
                </a:solidFill>
                <a:latin typeface="DejaVu Sans"/>
              </a:rPr>
              <a:t>MostrarBoleta presenta el detalle de la venta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D10DA04-F146-4B50-B01B-044D2D328447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EA850EA-26B1-48FD-B123-32962A89E95F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AF58DE2-0E5F-4FF7-8C78-2E7FD0194CBD}"/>
              </a:ext>
            </a:extLst>
          </p:cNvPr>
          <p:cNvSpPr>
            <a:spLocks noGrp="1"/>
          </p:cNvSpPr>
          <p:nvPr/>
        </p:nvSpPr>
        <p:spPr>
          <a:xfrm>
            <a:off x="742950" y="1685925"/>
            <a:ext cx="4667250" cy="4286250"/>
          </a:xfrm>
          <a:prstGeom prst="rect">
            <a:avLst/>
          </a:prstGeom>
          <a:solidFill>
            <a:srgbClr val="FFF4E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4A3B839-B6BB-48C4-B1D8-1127320CF9A4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A2119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5C098BC-31C7-41D2-8380-36B0309517F6}"/>
              </a:ext>
            </a:extLst>
          </p:cNvPr>
          <p:cNvSpPr>
            <a:spLocks noGrp="1"/>
          </p:cNvSpPr>
          <p:nvPr/>
        </p:nvSpPr>
        <p:spPr>
          <a:xfrm>
            <a:off x="1028700" y="2647950"/>
            <a:ext cx="4095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A2119"/>
                </a:solidFill>
                <a:latin typeface="DejaVu Sans"/>
              </a:rPr>
              <a:t>Folio: 1</a:t>
            </a:r>
            <a:br/>
            <a:r>
              <a:rPr sz="1800" b="0">
                <a:solidFill>
                  <a:srgbClr val="2A2119"/>
                </a:solidFill>
                <a:latin typeface="DejaVu Sans"/>
              </a:rPr>
              <a:t>Fecha: fecha de registro</a:t>
            </a:r>
            <a:br/>
            <a:r>
              <a:rPr sz="1800" b="0">
                <a:solidFill>
                  <a:srgbClr val="2A2119"/>
                </a:solidFill>
                <a:latin typeface="DejaVu Sans"/>
              </a:rPr>
              <a:t>Empleado: Camila Soto</a:t>
            </a:r>
            <a:br/>
            <a:r>
              <a:rPr sz="1800" b="0">
                <a:solidFill>
                  <a:srgbClr val="2A2119"/>
                </a:solidFill>
                <a:latin typeface="DejaVu Sans"/>
              </a:rPr>
              <a:t>Sucursal: Gas al Paso Centro</a:t>
            </a:r>
            <a:br/>
            <a:r>
              <a:rPr sz="1800" b="0">
                <a:solidFill>
                  <a:srgbClr val="2A2119"/>
                </a:solidFill>
                <a:latin typeface="DejaVu Sans"/>
              </a:rPr>
              <a:t>Gas 11 kg x 2 a $15.000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B7E4CA4-C03E-4CD9-B238-954BD7C0D8E2}"/>
              </a:ext>
            </a:extLst>
          </p:cNvPr>
          <p:cNvSpPr>
            <a:spLocks noGrp="1"/>
          </p:cNvSpPr>
          <p:nvPr/>
        </p:nvSpPr>
        <p:spPr>
          <a:xfrm>
            <a:off x="1028700" y="4524375"/>
            <a:ext cx="4048125" cy="19050"/>
          </a:xfrm>
          <a:prstGeom prst="rect">
            <a:avLst/>
          </a:prstGeom>
          <a:solidFill>
            <a:srgbClr val="D9AD7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E755E21-914E-46B1-AF85-1CAC2C821BCD}"/>
              </a:ext>
            </a:extLst>
          </p:cNvPr>
          <p:cNvSpPr>
            <a:spLocks noGrp="1"/>
          </p:cNvSpPr>
          <p:nvPr/>
        </p:nvSpPr>
        <p:spPr>
          <a:xfrm>
            <a:off x="1028700" y="4667250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A2119"/>
                </a:solidFill>
                <a:latin typeface="DejaVu Sans"/>
              </a:rPr>
              <a:t>Subtotal $30.000</a:t>
            </a:r>
            <a:br/>
            <a:r>
              <a:rPr sz="1800" b="1">
                <a:solidFill>
                  <a:srgbClr val="2A2119"/>
                </a:solidFill>
                <a:latin typeface="DejaVu Sans"/>
              </a:rPr>
              <a:t>Descuento $3.000</a:t>
            </a:r>
            <a:br/>
            <a:r>
              <a:rPr sz="1800" b="1">
                <a:solidFill>
                  <a:srgbClr val="2A2119"/>
                </a:solidFill>
                <a:latin typeface="DejaVu Sans"/>
              </a:rPr>
              <a:t>TOTAL BOLETA $27.000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460BC1A-43F4-4866-BE5F-B20253168763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523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Para el consumidor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922A1C8-2013-4A9A-8F36-8283050F3B72}"/>
              </a:ext>
            </a:extLst>
          </p:cNvPr>
          <p:cNvSpPr>
            <a:spLocks noGrp="1"/>
          </p:cNvSpPr>
          <p:nvPr/>
        </p:nvSpPr>
        <p:spPr>
          <a:xfrm>
            <a:off x="6191250" y="2667000"/>
            <a:ext cx="5238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Detalle del producto y del pago</a:t>
            </a:r>
          </a:p>
          <a:p>
            <a: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que corresponde a su compra.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B2BB583-2034-470C-896C-F8D96323FDB9}"/>
              </a:ext>
            </a:extLst>
          </p:cNvPr>
          <p:cNvSpPr>
            <a:spLocks noGrp="1"/>
          </p:cNvSpPr>
          <p:nvPr/>
        </p:nvSpPr>
        <p:spPr>
          <a:xfrm>
            <a:off x="6191250" y="3952875"/>
            <a:ext cx="523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9A3D"/>
                </a:solidFill>
                <a:latin typeface="DejaVu Sans"/>
                <a:ea typeface="DejaVu Sans"/>
                <a:cs typeface="DejaVu Sans"/>
              </a:rPr>
              <a:t>Para el empleado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6A43D63-6F21-47F0-BFEC-E256E2E12CD6}"/>
              </a:ext>
            </a:extLst>
          </p:cNvPr>
          <p:cNvSpPr>
            <a:spLocks noGrp="1"/>
          </p:cNvSpPr>
          <p:nvPr/>
        </p:nvSpPr>
        <p:spPr>
          <a:xfrm>
            <a:off x="6191250" y="4619625"/>
            <a:ext cx="5238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Respaldo de una venta que</a:t>
            </a:r>
          </a:p>
          <a:p>
            <a:pPr>
              <a:def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8F4EE"/>
                </a:solidFill>
                <a:latin typeface="DejaVu Sans"/>
                <a:ea typeface="DejaVu Sans"/>
                <a:cs typeface="DejaVu Sans"/>
              </a:rPr>
              <a:t>ya aparece en su resumen.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D32031A-0044-46FE-8E76-29DBAA400178}"/>
              </a:ext>
            </a:extLst>
          </p:cNvPr>
          <p:cNvSpPr>
            <a:spLocks noGrp="1"/>
          </p:cNvSpPr>
          <p:nvPr/>
        </p:nvSpPr>
        <p:spPr>
          <a:xfrm>
            <a:off x="742950" y="6096000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MostrarBoleta reúne los datos de la venta y los presenta en pantalla. Es un ejemplo académico, no una boleta tributaria electrónica.</a:t>
            </a:r>
          </a:p>
        </p:txBody>
      </p:sp>
    </p:spTree>
    <p:extLst>
      <p:ext uri="{BB962C8B-B14F-4D97-AF65-F5344CB8AC3E}">
        <p14:creationId xmlns:p14="http://schemas.microsoft.com/office/powerpoint/2010/main" val="931185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5C64AD58-FBD6-496F-BDFE-CBC0120CF906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AFFD1EF-FE45-44F5-8E78-8F1596E713D6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1BDF868-A9CF-4411-AAAB-5C79CA19BEC1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99C967E-D602-44FE-AF4C-800449773E78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98C4E4C-F44D-4E33-9C43-583AA987F795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89D67B-5253-43CB-8A36-C0008803A2A5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CF646C3-CCB5-4361-9538-9E4E02A32A3E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D15FC4-C1E7-4A1F-9C7C-2893CC5D108D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0FCF641-0B1B-4852-836C-68AD911A6DDC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FF9A3D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MOCKUP · EVALUACIÓN 3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DB7EAAC-0055-4FAB-BC43-1C5F0F53D251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075" b="1" i="0" u="none" strike="noStrike" kern="1200" cap="none" spc="0" normalizeH="0" baseline="0" noProof="0">
                <a:ln>
                  <a:noFill/>
                </a:ln>
                <a:solidFill>
                  <a:srgbClr val="F8F4EE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Así imaginamos la próxima etapa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C9E1609-E606-4D53-9591-AE3B732A7E38}"/>
              </a:ext>
            </a:extLst>
          </p:cNvPr>
          <p:cNvSpPr>
            <a:spLocks noGrp="1"/>
          </p:cNvSpPr>
          <p:nvPr/>
        </p:nvSpPr>
        <p:spPr>
          <a:xfrm>
            <a:off x="742950" y="62007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B8C0CC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890875C-6FF8-41C4-94FE-5E236D569DB8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9A3D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602959B-2781-429B-9E69-B2567D1809EA}"/>
              </a:ext>
            </a:extLst>
          </p:cNvPr>
          <p:cNvSpPr>
            <a:spLocks noGrp="1"/>
          </p:cNvSpPr>
          <p:nvPr/>
        </p:nvSpPr>
        <p:spPr>
          <a:xfrm>
            <a:off x="742950" y="1666875"/>
            <a:ext cx="10668000" cy="4238625"/>
          </a:xfrm>
          <a:prstGeom prst="roundRect">
            <a:avLst>
              <a:gd name="adj" fmla="val 1798"/>
            </a:avLst>
          </a:prstGeom>
          <a:solidFill>
            <a:srgbClr val="F7F4E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8EE5E6B-9996-47BE-9349-B1521DBA2460}"/>
              </a:ext>
            </a:extLst>
          </p:cNvPr>
          <p:cNvSpPr>
            <a:spLocks noGrp="1"/>
          </p:cNvSpPr>
          <p:nvPr/>
        </p:nvSpPr>
        <p:spPr>
          <a:xfrm>
            <a:off x="742950" y="1666875"/>
            <a:ext cx="1809750" cy="4238625"/>
          </a:xfrm>
          <a:prstGeom prst="rect">
            <a:avLst/>
          </a:prstGeom>
          <a:solidFill>
            <a:srgbClr val="2B211B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48524EA-51E4-4E47-8FBA-566F18DD8984}"/>
              </a:ext>
            </a:extLst>
          </p:cNvPr>
          <p:cNvSpPr>
            <a:spLocks noGrp="1"/>
          </p:cNvSpPr>
          <p:nvPr/>
        </p:nvSpPr>
        <p:spPr>
          <a:xfrm>
            <a:off x="904875" y="1895475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FFAD6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FFAD6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FFAD6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FFAD6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FFAD6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FFAD6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FFAD6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FFAD6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FFAD6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FFAD6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FFAD60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FFAD6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5D6CFA2-36FD-4FF9-84A6-AB1203C04A52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1571625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FFF2E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FFF2E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FFF2E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FFF2E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FFF2E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FFF2E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FFF2E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FFF2E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FFF2E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FFF2E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FFF2E7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FFF2E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Nueva venta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75" b="0" i="0" u="none" strike="noStrike" kern="1200" cap="none" spc="0" normalizeH="0" baseline="0" noProof="0">
              <a:ln>
                <a:noFill/>
              </a:ln>
              <a:solidFill>
                <a:srgbClr val="FFF2E7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FFF2E7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FFF2E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Mis boletas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75" b="0" i="0" u="none" strike="noStrike" kern="1200" cap="none" spc="0" normalizeH="0" baseline="0" noProof="0">
              <a:ln>
                <a:noFill/>
              </a:ln>
              <a:solidFill>
                <a:srgbClr val="FFF2E7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FFF2E7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FFF2E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Ventas del día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75" b="0" i="0" u="none" strike="noStrike" kern="1200" cap="none" spc="0" normalizeH="0" baseline="0" noProof="0">
              <a:ln>
                <a:noFill/>
              </a:ln>
              <a:solidFill>
                <a:srgbClr val="FFF2E7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FFF2E7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FFF2E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Cerrar caja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9FA8C92-FA5C-45E5-919C-B46B19A65F70}"/>
              </a:ext>
            </a:extLst>
          </p:cNvPr>
          <p:cNvSpPr>
            <a:spLocks noGrp="1"/>
          </p:cNvSpPr>
          <p:nvPr/>
        </p:nvSpPr>
        <p:spPr>
          <a:xfrm>
            <a:off x="2857500" y="1857375"/>
            <a:ext cx="571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1">
                <a:solidFill>
                  <a:srgbClr val="2A2119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250" b="1" i="0" u="none" strike="noStrike" kern="1200" cap="none" spc="0" normalizeH="0" baseline="0" noProof="0">
                <a:ln>
                  <a:noFill/>
                </a:ln>
                <a:solidFill>
                  <a:srgbClr val="2A2119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Ventas del día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2E0B9C1-F944-46A8-BB9F-ED3B475FF555}"/>
              </a:ext>
            </a:extLst>
          </p:cNvPr>
          <p:cNvSpPr>
            <a:spLocks noGrp="1"/>
          </p:cNvSpPr>
          <p:nvPr/>
        </p:nvSpPr>
        <p:spPr>
          <a:xfrm>
            <a:off x="2857500" y="2295525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pPr>
            <a:r>
              <a:rPr lang="es-CL" dirty="0"/>
              <a:t>Ricardo </a:t>
            </a:r>
            <a:r>
              <a:rPr kumimoji="0" sz="1575" b="0" i="0" u="none" strike="noStrike" kern="1200" cap="none" spc="0" normalizeH="0" baseline="0" noProof="0" dirty="0">
                <a:ln>
                  <a:noFill/>
                </a:ln>
                <a:solidFill>
                  <a:srgbClr val="786451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Soto · </a:t>
            </a:r>
            <a:r>
              <a:rPr kumimoji="0" sz="1575" b="0" i="0" u="none" strike="noStrike" kern="1200" cap="none" spc="0" normalizeH="0" baseline="0" noProof="0" dirty="0" err="1">
                <a:ln>
                  <a:noFill/>
                </a:ln>
                <a:solidFill>
                  <a:srgbClr val="786451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Sucursal</a:t>
            </a:r>
            <a:r>
              <a:rPr kumimoji="0" sz="1575" b="0" i="0" u="none" strike="noStrike" kern="1200" cap="none" spc="0" normalizeH="0" baseline="0" noProof="0" dirty="0">
                <a:ln>
                  <a:noFill/>
                </a:ln>
                <a:solidFill>
                  <a:srgbClr val="786451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Centro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B040017B-C0AE-4D5F-88BF-1E80BFA16A29}"/>
              </a:ext>
            </a:extLst>
          </p:cNvPr>
          <p:cNvSpPr>
            <a:spLocks noGrp="1"/>
          </p:cNvSpPr>
          <p:nvPr/>
        </p:nvSpPr>
        <p:spPr>
          <a:xfrm>
            <a:off x="2857500" y="2809875"/>
            <a:ext cx="2524125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E1EE482-4603-415E-8CB5-FD1677F49D96}"/>
              </a:ext>
            </a:extLst>
          </p:cNvPr>
          <p:cNvSpPr>
            <a:spLocks noGrp="1"/>
          </p:cNvSpPr>
          <p:nvPr/>
        </p:nvSpPr>
        <p:spPr>
          <a:xfrm>
            <a:off x="3000375" y="2905125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786451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Vendido hoy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11DAD0C-0D2F-482C-AC66-267CF8D2FE25}"/>
              </a:ext>
            </a:extLst>
          </p:cNvPr>
          <p:cNvSpPr>
            <a:spLocks noGrp="1"/>
          </p:cNvSpPr>
          <p:nvPr/>
        </p:nvSpPr>
        <p:spPr>
          <a:xfrm>
            <a:off x="3000375" y="3286125"/>
            <a:ext cx="2238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250" b="1" i="0" u="none" strike="noStrike" kern="1200" cap="none" spc="0" normalizeH="0" baseline="0" noProof="0">
                <a:ln>
                  <a:noFill/>
                </a:ln>
                <a:solidFill>
                  <a:srgbClr val="3E2B1B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$27.000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E37374E1-123F-4228-8DF5-E9CC1BA6A2E1}"/>
              </a:ext>
            </a:extLst>
          </p:cNvPr>
          <p:cNvSpPr>
            <a:spLocks noGrp="1"/>
          </p:cNvSpPr>
          <p:nvPr/>
        </p:nvSpPr>
        <p:spPr>
          <a:xfrm>
            <a:off x="5715000" y="2809875"/>
            <a:ext cx="2524125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52CC535-E884-4FB4-B786-447AD0B63967}"/>
              </a:ext>
            </a:extLst>
          </p:cNvPr>
          <p:cNvSpPr>
            <a:spLocks noGrp="1"/>
          </p:cNvSpPr>
          <p:nvPr/>
        </p:nvSpPr>
        <p:spPr>
          <a:xfrm>
            <a:off x="5857875" y="2905125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786451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Pedidos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6D2DDF8-C840-4480-BF48-1729EAFA130D}"/>
              </a:ext>
            </a:extLst>
          </p:cNvPr>
          <p:cNvSpPr>
            <a:spLocks noGrp="1"/>
          </p:cNvSpPr>
          <p:nvPr/>
        </p:nvSpPr>
        <p:spPr>
          <a:xfrm>
            <a:off x="5857875" y="3286125"/>
            <a:ext cx="2238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250" b="1" i="0" u="none" strike="noStrike" kern="1200" cap="none" spc="0" normalizeH="0" baseline="0" noProof="0">
                <a:ln>
                  <a:noFill/>
                </a:ln>
                <a:solidFill>
                  <a:srgbClr val="3E2B1B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E996E325-9D8E-4399-8E77-0ADC4EF1C59E}"/>
              </a:ext>
            </a:extLst>
          </p:cNvPr>
          <p:cNvSpPr>
            <a:spLocks noGrp="1"/>
          </p:cNvSpPr>
          <p:nvPr/>
        </p:nvSpPr>
        <p:spPr>
          <a:xfrm>
            <a:off x="8572500" y="2809875"/>
            <a:ext cx="2524125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B1CB6D7-60A8-42BA-8E28-775B10B7A606}"/>
              </a:ext>
            </a:extLst>
          </p:cNvPr>
          <p:cNvSpPr>
            <a:spLocks noGrp="1"/>
          </p:cNvSpPr>
          <p:nvPr/>
        </p:nvSpPr>
        <p:spPr>
          <a:xfrm>
            <a:off x="8715375" y="2905125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786451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Estado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4B6F994-4179-480D-83AB-F65680B6DE4F}"/>
              </a:ext>
            </a:extLst>
          </p:cNvPr>
          <p:cNvSpPr>
            <a:spLocks noGrp="1"/>
          </p:cNvSpPr>
          <p:nvPr/>
        </p:nvSpPr>
        <p:spPr>
          <a:xfrm>
            <a:off x="8715375" y="3286125"/>
            <a:ext cx="2238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1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250" b="1" i="0" u="none" strike="noStrike" kern="1200" cap="none" spc="0" normalizeH="0" baseline="0" noProof="0">
                <a:ln>
                  <a:noFill/>
                </a:ln>
                <a:solidFill>
                  <a:srgbClr val="3E2B1B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Por revisar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7973C6E-6974-4C2F-A258-8B6D4C38C9F2}"/>
              </a:ext>
            </a:extLst>
          </p:cNvPr>
          <p:cNvSpPr>
            <a:spLocks noGrp="1"/>
          </p:cNvSpPr>
          <p:nvPr/>
        </p:nvSpPr>
        <p:spPr>
          <a:xfrm>
            <a:off x="2952750" y="4019550"/>
            <a:ext cx="7810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3E2B1B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3E2B1B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Boleta 001     Gas 11 kg     2 unidades     $27.000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D71040B-A685-405C-B14B-68A63AB9B972}"/>
              </a:ext>
            </a:extLst>
          </p:cNvPr>
          <p:cNvSpPr>
            <a:spLocks noGrp="1"/>
          </p:cNvSpPr>
          <p:nvPr/>
        </p:nvSpPr>
        <p:spPr>
          <a:xfrm>
            <a:off x="2857500" y="4552950"/>
            <a:ext cx="8096250" cy="9525"/>
          </a:xfrm>
          <a:prstGeom prst="rect">
            <a:avLst/>
          </a:prstGeom>
          <a:solidFill>
            <a:srgbClr val="DFC9B3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9AA75A3-272D-430F-B366-575528B76A04}"/>
              </a:ext>
            </a:extLst>
          </p:cNvPr>
          <p:cNvSpPr>
            <a:spLocks noGrp="1"/>
          </p:cNvSpPr>
          <p:nvPr/>
        </p:nvSpPr>
        <p:spPr>
          <a:xfrm>
            <a:off x="2952750" y="4733925"/>
            <a:ext cx="5238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786451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Al cerrar: registrar el monto entregado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786451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786451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y comparar con los pagos del día.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47A5CAA8-520C-435A-AE2B-91CC6B360656}"/>
              </a:ext>
            </a:extLst>
          </p:cNvPr>
          <p:cNvSpPr>
            <a:spLocks noGrp="1"/>
          </p:cNvSpPr>
          <p:nvPr/>
        </p:nvSpPr>
        <p:spPr>
          <a:xfrm>
            <a:off x="8715375" y="4857750"/>
            <a:ext cx="2286000" cy="523875"/>
          </a:xfrm>
          <a:prstGeom prst="roundRect">
            <a:avLst>
              <a:gd name="adj" fmla="val 14545"/>
            </a:avLst>
          </a:prstGeom>
          <a:solidFill>
            <a:srgbClr val="D9722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BF94507-C70D-4BA1-9DED-03B469C04FFC}"/>
              </a:ext>
            </a:extLst>
          </p:cNvPr>
          <p:cNvSpPr>
            <a:spLocks noGrp="1"/>
          </p:cNvSpPr>
          <p:nvPr/>
        </p:nvSpPr>
        <p:spPr>
          <a:xfrm>
            <a:off x="8858250" y="4972050"/>
            <a:ext cx="200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Revisar cierre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6321E6B-CD97-47D2-85BF-E503806E8CE0}"/>
              </a:ext>
            </a:extLst>
          </p:cNvPr>
          <p:cNvSpPr>
            <a:spLocks noGrp="1"/>
          </p:cNvSpPr>
          <p:nvPr/>
        </p:nvSpPr>
        <p:spPr>
          <a:xfrm>
            <a:off x="742950" y="6048375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B8C0CC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4123915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FC16F0B5-EEE9-46C7-869F-4CE65BB75307}"/>
              </a:ext>
            </a:extLst>
          </p:cNvPr>
          <p:cNvSpPr>
            <a:spLocks noGrp="1"/>
          </p:cNvSpPr>
          <p:nvPr/>
        </p:nvSpPr>
        <p:spPr>
          <a:xfrm>
            <a:off x="123825" y="0"/>
            <a:ext cx="19050" cy="12858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103EC2F-5F33-41C7-AF00-34C6A6C78138}"/>
              </a:ext>
            </a:extLst>
          </p:cNvPr>
          <p:cNvSpPr>
            <a:spLocks noGrp="1"/>
          </p:cNvSpPr>
          <p:nvPr/>
        </p:nvSpPr>
        <p:spPr>
          <a:xfrm>
            <a:off x="123825" y="1285875"/>
            <a:ext cx="42862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DFD90B3-8A92-406F-AC5C-5305D91C973D}"/>
              </a:ext>
            </a:extLst>
          </p:cNvPr>
          <p:cNvSpPr>
            <a:spLocks noGrp="1"/>
          </p:cNvSpPr>
          <p:nvPr/>
        </p:nvSpPr>
        <p:spPr>
          <a:xfrm>
            <a:off x="219075" y="0"/>
            <a:ext cx="19050" cy="1514475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61E8DFC-DF13-4299-89FA-22F4D2C91AD4}"/>
              </a:ext>
            </a:extLst>
          </p:cNvPr>
          <p:cNvSpPr>
            <a:spLocks noGrp="1"/>
          </p:cNvSpPr>
          <p:nvPr/>
        </p:nvSpPr>
        <p:spPr>
          <a:xfrm>
            <a:off x="219075" y="1514475"/>
            <a:ext cx="333375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92AD35E-C0B9-426D-9D72-655D46E98B36}"/>
              </a:ext>
            </a:extLst>
          </p:cNvPr>
          <p:cNvSpPr>
            <a:spLocks noGrp="1"/>
          </p:cNvSpPr>
          <p:nvPr/>
        </p:nvSpPr>
        <p:spPr>
          <a:xfrm>
            <a:off x="314325" y="0"/>
            <a:ext cx="19050" cy="1743075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CEA791-D379-47BD-B00A-411F1BDF6AA4}"/>
              </a:ext>
            </a:extLst>
          </p:cNvPr>
          <p:cNvSpPr>
            <a:spLocks noGrp="1"/>
          </p:cNvSpPr>
          <p:nvPr/>
        </p:nvSpPr>
        <p:spPr>
          <a:xfrm>
            <a:off x="314325" y="1743075"/>
            <a:ext cx="238125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1BB11B2-571A-4659-B618-01CBDD42BA06}"/>
              </a:ext>
            </a:extLst>
          </p:cNvPr>
          <p:cNvSpPr>
            <a:spLocks noGrp="1"/>
          </p:cNvSpPr>
          <p:nvPr/>
        </p:nvSpPr>
        <p:spPr>
          <a:xfrm>
            <a:off x="10477500" y="6772275"/>
            <a:ext cx="1714500" cy="19050"/>
          </a:xfrm>
          <a:prstGeom prst="rect">
            <a:avLst/>
          </a:prstGeom>
          <a:solidFill>
            <a:srgbClr val="9E551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4ACD27-136D-471C-B586-0924F3763F60}"/>
              </a:ext>
            </a:extLst>
          </p:cNvPr>
          <p:cNvSpPr>
            <a:spLocks noGrp="1"/>
          </p:cNvSpPr>
          <p:nvPr/>
        </p:nvSpPr>
        <p:spPr>
          <a:xfrm>
            <a:off x="10953750" y="6677025"/>
            <a:ext cx="1238250" cy="19050"/>
          </a:xfrm>
          <a:prstGeom prst="rect">
            <a:avLst/>
          </a:prstGeom>
          <a:solidFill>
            <a:srgbClr val="FF9A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7AA22CA-CD41-4908-8F27-D27EC162BB7E}"/>
              </a:ext>
            </a:extLst>
          </p:cNvPr>
          <p:cNvSpPr>
            <a:spLocks noGrp="1"/>
          </p:cNvSpPr>
          <p:nvPr/>
        </p:nvSpPr>
        <p:spPr>
          <a:xfrm>
            <a:off x="742950" y="542925"/>
            <a:ext cx="10706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75" b="1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Lo que aporta el proyecto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7EDDE03-A493-4CF6-B83D-40E7E32DB03C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GAS AL PASO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9A8972E-9DE8-4CBD-86C7-054C25F10113}"/>
              </a:ext>
            </a:extLst>
          </p:cNvPr>
          <p:cNvSpPr>
            <a:spLocks noGrp="1"/>
          </p:cNvSpPr>
          <p:nvPr/>
        </p:nvSpPr>
        <p:spPr>
          <a:xfrm>
            <a:off x="11525250" y="64008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9A3D"/>
                </a:solidFill>
                <a:latin typeface="DejaVu Sans"/>
              </a:rPr>
              <a:t>14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241A055-0B06-483A-9E2A-2C629F17C1A5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Lo implementado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2BE840-7693-481B-B26F-CF01037E143A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52387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Calcula el descuento, registra la venta y actualiza el stock. También guarda quién vendió y en qué sucursal, y permite revisar la boleta y el resumen diario.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CCF390E-BB7D-4D04-84CA-0524D5946C07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F9A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Próximos pasos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4A060AC-47F8-4335-B032-114C9DC5B0C3}"/>
              </a:ext>
            </a:extLst>
          </p:cNvPr>
          <p:cNvSpPr>
            <a:spLocks noGrp="1"/>
          </p:cNvSpPr>
          <p:nvPr/>
        </p:nvSpPr>
        <p:spPr>
          <a:xfrm>
            <a:off x="6858000" y="2571750"/>
            <a:ext cx="47625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8F4E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Permitir varios productos por venta, controlar el stock por sucursal y agregar medios de pago y cierre de caja. Después se puede calcular el bono por ventas.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605AB3E-BC15-4D64-B30A-4B447F0F5A92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10715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t>La solución deja las ventas más ordenadas y facilita su revisión. Las pruebas confirmaron que el monto registrado coincide con el resumen del día.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F83FD0D-B278-475C-842B-D731E0E1313E}"/>
              </a:ext>
            </a:extLst>
          </p:cNvPr>
          <p:cNvSpPr>
            <a:spLocks noGrp="1"/>
          </p:cNvSpPr>
          <p:nvPr/>
        </p:nvSpPr>
        <p:spPr>
          <a:xfrm>
            <a:off x="742950" y="6115050"/>
            <a:ext cx="1076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50" b="0">
                <a:solidFill>
                  <a:srgbClr val="B8C0C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B8C0CC"/>
                </a:solidFill>
                <a:latin typeface="DejaVu Sans"/>
                <a:ea typeface="DejaVu Sans"/>
                <a:cs typeface="DejaVu Sans"/>
              </a:rPr>
              <a:t>Fuentes: SQL del proyecto y rúbrica BDY1103, Evaluación Parcial 2.</a:t>
            </a:r>
          </a:p>
        </p:txBody>
      </p:sp>
    </p:spTree>
    <p:extLst>
      <p:ext uri="{BB962C8B-B14F-4D97-AF65-F5344CB8AC3E}">
        <p14:creationId xmlns:p14="http://schemas.microsoft.com/office/powerpoint/2010/main" val="18854029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2189</Words>
  <Application>Microsoft Office PowerPoint</Application>
  <DocSecurity>0</DocSecurity>
  <PresentationFormat>Panorámica</PresentationFormat>
  <Paragraphs>292</Paragraphs>
  <Slides>16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DejaVu Sans</vt:lpstr>
      <vt:lpstr>DejaVu Sans Mono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GERARD JOHAN DEL JESUS ZAMBRANO CATALAN</cp:lastModifiedBy>
  <cp:revision>2</cp:revision>
  <dcterms:created xsi:type="dcterms:W3CDTF">2026-10-25T08:38:38Z</dcterms:created>
  <dcterms:modified xsi:type="dcterms:W3CDTF">2026-10-27T15:12:59Z</dcterms:modified>
</cp:coreProperties>
</file>